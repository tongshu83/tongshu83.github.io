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Roboto Thin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55"/>
  </p:normalViewPr>
  <p:slideViewPr>
    <p:cSldViewPr snapToGrid="0">
      <p:cViewPr varScale="1">
        <p:scale>
          <a:sx n="156" d="100"/>
          <a:sy n="156" d="100"/>
        </p:scale>
        <p:origin x="60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88fa368e3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88fa368e3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8fa368e37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8fa368e37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8fa368e37_0_1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88fa368e37_0_1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9cd45ea1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89cd45ea1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9cd45ea1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9cd45ea1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9cd45ea19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9cd45ea19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9cd45ea1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9cd45ea1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89cd45ea1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89cd45ea1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88fa368e37_0_1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88fa368e37_0_1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8b720ac87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8b720ac87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89cd45ea1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89cd45ea1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b720ac87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8b720ac87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b2e586c9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b2e586c9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9cd45ea1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9cd45ea1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89cd45ea19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89cd45ea19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89cd45ea19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89cd45ea19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89cd45ea19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89cd45ea19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89cd45ea19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89cd45ea19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88fa368e37_0_1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88fa368e37_0_1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89cd45ea19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89cd45ea19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3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914575"/>
            <a:ext cx="4564500" cy="39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3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1700" y="4726075"/>
            <a:ext cx="42558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of the Resource Consumption of Distributed Deep Learning Systems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0" y="914400"/>
            <a:ext cx="8520600" cy="8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380" b="1" dirty="0"/>
              <a:t>Prediction of the Resource Consumption of Distributed Deep Learning Systems</a:t>
            </a:r>
            <a:endParaRPr sz="2380" b="1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1801150"/>
            <a:ext cx="8520600" cy="18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Authors: 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Gyeongsik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Yang, 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Changyong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Shin, 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Jeunghwan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Lee, 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Yeonho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Yoo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Chuck 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Yoo</a:t>
            </a:r>
            <a:endParaRPr lang="en" sz="1800" i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i="1" dirty="0">
                <a:solidFill>
                  <a:srgbClr val="000000"/>
                </a:solidFill>
              </a:rPr>
              <a:t>Department of Computer Science and Engineering, Korea University, South Korea</a:t>
            </a:r>
            <a:endParaRPr sz="1800" i="1" dirty="0">
              <a:solidFill>
                <a:srgbClr val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Dipak Acharya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HPC Seminar in Dept. of CSE at UNT on 10/12/2023</a:t>
            </a:r>
            <a:endParaRPr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850" y="3931920"/>
            <a:ext cx="8520600" cy="7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Gyeongsik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Yang,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Changyong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Shin,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Jeunghwan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Lee,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Yeonho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Yoo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and Chuck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Yoo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2022. Prediction of the Resource Consumption of Distributed Deep Learning Systems. Proc. ACM Meas. Anal.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Comput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Syst. 6, 2, Article 29 (June 2022), 25 pages. https://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doi.org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/10.1145/3530895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Background: </a:t>
            </a:r>
            <a:r>
              <a:rPr lang="en"/>
              <a:t>Distributed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Training (DT)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3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Gradients calculated by several workers is aggregated and applied to the entire model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Parameter server (PS) and all reduce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2 axes of complexities</a:t>
            </a:r>
            <a:endParaRPr sz="16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64" name="Google Shape;64;p14"/>
          <p:cNvGrpSpPr/>
          <p:nvPr/>
        </p:nvGrpSpPr>
        <p:grpSpPr>
          <a:xfrm>
            <a:off x="1261424" y="2293955"/>
            <a:ext cx="6621154" cy="2036159"/>
            <a:chOff x="1021972" y="2051698"/>
            <a:chExt cx="6516242" cy="1948664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1021977" y="2051698"/>
              <a:ext cx="6516237" cy="906756"/>
              <a:chOff x="1593000" y="2322568"/>
              <a:chExt cx="5957975" cy="6435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3728375" y="2322568"/>
                <a:ext cx="3822600" cy="6435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 flipH="1">
                <a:off x="2283025" y="2322575"/>
                <a:ext cx="1844400" cy="6426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 rot="-5400000">
                <a:off x="3501574" y="1934671"/>
                <a:ext cx="643356" cy="1419149"/>
              </a:xfrm>
              <a:prstGeom prst="flowChartOffpageConnector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2342625" y="2399951"/>
                <a:ext cx="19407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Training Settings</a:t>
                </a:r>
                <a:endParaRPr sz="1600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1593000" y="2322568"/>
                <a:ext cx="690000" cy="642300"/>
              </a:xfrm>
              <a:prstGeom prst="rect">
                <a:avLst/>
              </a:prstGeom>
              <a:solidFill>
                <a:srgbClr val="B02C20"/>
              </a:solidFill>
              <a:ln>
                <a:noFill/>
              </a:ln>
              <a:effectLst>
                <a:outerShdw blurRad="71438" dist="28575" dir="2700000" algn="bl" rotWithShape="0">
                  <a:srgbClr val="000000">
                    <a:alpha val="1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1593000" y="2322575"/>
                <a:ext cx="690000" cy="642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FFFFFF"/>
                    </a:solidFill>
                    <a:latin typeface="Roboto Thin"/>
                    <a:ea typeface="Roboto Thin"/>
                    <a:cs typeface="Roboto Thin"/>
                    <a:sym typeface="Roboto Thin"/>
                  </a:rPr>
                  <a:t>01</a:t>
                </a:r>
                <a:endParaRPr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endParaRPr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4387850" y="2323750"/>
                <a:ext cx="2971200" cy="64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GPUs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Parameter Servers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Same server GPUs of PCIe connected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40GbE or High speed RDMA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3" name="Google Shape;73;p14"/>
            <p:cNvGrpSpPr/>
            <p:nvPr/>
          </p:nvGrpSpPr>
          <p:grpSpPr>
            <a:xfrm>
              <a:off x="1021972" y="2958342"/>
              <a:ext cx="6516237" cy="1042020"/>
              <a:chOff x="1593000" y="2322568"/>
              <a:chExt cx="5957975" cy="64350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3728375" y="2322568"/>
                <a:ext cx="3822600" cy="6435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 flipH="1">
                <a:off x="2283025" y="2322575"/>
                <a:ext cx="1844400" cy="6426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 rot="-5400000">
                <a:off x="3501574" y="1934671"/>
                <a:ext cx="643356" cy="1419149"/>
              </a:xfrm>
              <a:prstGeom prst="flowChartOffpageConnector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2342625" y="2399951"/>
                <a:ext cx="19407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WorkLoads</a:t>
                </a:r>
                <a:endParaRPr sz="1600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1593000" y="2322568"/>
                <a:ext cx="690000" cy="642300"/>
              </a:xfrm>
              <a:prstGeom prst="rect">
                <a:avLst/>
              </a:prstGeom>
              <a:solidFill>
                <a:srgbClr val="B02C20"/>
              </a:solidFill>
              <a:ln>
                <a:noFill/>
              </a:ln>
              <a:effectLst>
                <a:outerShdw blurRad="71438" dist="28575" dir="2700000" algn="bl" rotWithShape="0">
                  <a:srgbClr val="000000">
                    <a:alpha val="1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1593000" y="2322575"/>
                <a:ext cx="690000" cy="642600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FFFFFF"/>
                    </a:solidFill>
                    <a:latin typeface="Roboto Thin"/>
                    <a:ea typeface="Roboto Thin"/>
                    <a:cs typeface="Roboto Thin"/>
                    <a:sym typeface="Roboto Thin"/>
                  </a:rPr>
                  <a:t>02</a:t>
                </a:r>
                <a:endParaRPr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endParaRPr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>
                <a:off x="4387850" y="2323750"/>
                <a:ext cx="2971200" cy="64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Models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Datasets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34343"/>
                  </a:buClr>
                  <a:buSzPts val="1200"/>
                  <a:buFont typeface="Times New Roman"/>
                  <a:buChar char="●"/>
                </a:pPr>
                <a:r>
                  <a:rPr lang="en" sz="1200">
                    <a:solidFill>
                      <a:srgbClr val="43434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Hyperparameters</a:t>
                </a:r>
                <a:endParaRPr sz="1200">
                  <a:solidFill>
                    <a:srgbClr val="434343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Graph Neural Networks (GNN)</a:t>
            </a:r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4260300" cy="39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Node can have variable number of connections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Difficulty in neural network design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Solution: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Convert each node to fixed sized vectors (embeddings) using graph layers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Node embeddings aggregate information of neighbors within certain hops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By stacking </a:t>
            </a:r>
            <a:r>
              <a:rPr lang="en" sz="1400" i="1"/>
              <a:t>n</a:t>
            </a:r>
            <a:r>
              <a:rPr lang="en" sz="1400"/>
              <a:t> layers, we can aggregate information from </a:t>
            </a:r>
            <a:r>
              <a:rPr lang="en" sz="1400" i="1"/>
              <a:t>n-hop </a:t>
            </a:r>
            <a:r>
              <a:rPr lang="en" sz="1400"/>
              <a:t>neighbors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</a:t>
            </a:r>
            <a:r>
              <a:rPr lang="en" sz="1400" i="1"/>
              <a:t>n </a:t>
            </a:r>
            <a:r>
              <a:rPr lang="en" sz="1400"/>
              <a:t>value is a GNN specific hyperparameter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 accommodate different node sizes, a fixed size vector (embedding) is created for graph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embeddings vector on traditional machine learning algorithm such as MLP</a:t>
            </a:r>
            <a:endParaRPr sz="1400"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150" y="1402063"/>
            <a:ext cx="3635250" cy="233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Motivating Example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311700" y="1774150"/>
            <a:ext cx="3981300" cy="28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/>
              <a:t>Profiling resource consumption on 3 DT workloads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/>
              <a:t>Each resource shows cyclic pattern of high and low consumption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12 prediction targets were selected</a:t>
            </a:r>
            <a:endParaRPr sz="1400"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 dirty="0">
                <a:solidFill>
                  <a:schemeClr val="dk1"/>
                </a:solidFill>
              </a:rPr>
              <a:t>3 metrics (burst duration, idle duration and burst amount)</a:t>
            </a:r>
            <a:endParaRPr sz="1400"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 dirty="0">
                <a:solidFill>
                  <a:schemeClr val="dk1"/>
                </a:solidFill>
              </a:rPr>
              <a:t>4 resource types (U</a:t>
            </a:r>
            <a:r>
              <a:rPr lang="en" sz="1400" baseline="-25000" dirty="0">
                <a:solidFill>
                  <a:schemeClr val="dk1"/>
                </a:solidFill>
              </a:rPr>
              <a:t>G </a:t>
            </a:r>
            <a:r>
              <a:rPr lang="en" sz="1400" dirty="0">
                <a:solidFill>
                  <a:schemeClr val="dk1"/>
                </a:solidFill>
              </a:rPr>
              <a:t>, U</a:t>
            </a:r>
            <a:r>
              <a:rPr lang="en" sz="1400" baseline="-25000" dirty="0">
                <a:solidFill>
                  <a:schemeClr val="dk1"/>
                </a:solidFill>
              </a:rPr>
              <a:t>GM</a:t>
            </a:r>
            <a:r>
              <a:rPr lang="en" sz="1400" dirty="0">
                <a:solidFill>
                  <a:schemeClr val="dk1"/>
                </a:solidFill>
              </a:rPr>
              <a:t>, T</a:t>
            </a:r>
            <a:r>
              <a:rPr lang="en" sz="1400" baseline="-25000" dirty="0">
                <a:solidFill>
                  <a:schemeClr val="dk1"/>
                </a:solidFill>
              </a:rPr>
              <a:t>NT</a:t>
            </a:r>
            <a:r>
              <a:rPr lang="en" sz="1400" dirty="0">
                <a:solidFill>
                  <a:schemeClr val="dk1"/>
                </a:solidFill>
              </a:rPr>
              <a:t>, T</a:t>
            </a:r>
            <a:r>
              <a:rPr lang="en" sz="1400" baseline="-25000" dirty="0">
                <a:solidFill>
                  <a:schemeClr val="dk1"/>
                </a:solidFill>
              </a:rPr>
              <a:t>NR</a:t>
            </a:r>
            <a:r>
              <a:rPr lang="en" sz="1400" dirty="0">
                <a:solidFill>
                  <a:schemeClr val="dk1"/>
                </a:solidFill>
              </a:rPr>
              <a:t>)</a:t>
            </a:r>
            <a:endParaRPr dirty="0"/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547" y="862412"/>
            <a:ext cx="7490001" cy="724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164" y="3683650"/>
            <a:ext cx="4382923" cy="7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0175" y="1837488"/>
            <a:ext cx="4265901" cy="14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Motivation: </a:t>
            </a:r>
            <a:r>
              <a:rPr lang="en" dirty="0"/>
              <a:t>Sensitivity to DT workloads</a:t>
            </a:r>
            <a:endParaRPr dirty="0"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11700" y="914575"/>
            <a:ext cx="5270700" cy="3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Workload = {model, dataset, hyperparameters}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Use clustering on profiled data to classify burst and idle data points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Most resources follow primarily BIB cyclic pattern (B: </a:t>
            </a:r>
            <a:r>
              <a:rPr lang="en-US" dirty="0"/>
              <a:t>burst, I: idle)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/>
              <a:t>Burst amount varies highly, Very sensitive to DT workloads </a:t>
            </a:r>
            <a:endParaRPr b="1" dirty="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/>
              <a:t>Idle amount varies relatively less</a:t>
            </a:r>
            <a:endParaRPr b="1" dirty="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Both Burst duration and Idle duration have a high range for  </a:t>
            </a:r>
            <a:r>
              <a:rPr lang="en" i="1" dirty="0"/>
              <a:t>U</a:t>
            </a:r>
            <a:r>
              <a:rPr lang="en" i="1" baseline="-25000" dirty="0"/>
              <a:t>G</a:t>
            </a:r>
            <a:endParaRPr i="1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Burst duration is 88% shorter than Idle duration for </a:t>
            </a:r>
            <a:r>
              <a:rPr lang="en" i="1" dirty="0"/>
              <a:t>T</a:t>
            </a:r>
            <a:r>
              <a:rPr lang="en" i="1" baseline="-25000" dirty="0"/>
              <a:t>NT</a:t>
            </a:r>
            <a:endParaRPr i="1" baseline="-25000" dirty="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/>
              <a:t>Burst duration is very sensitive for </a:t>
            </a:r>
            <a:r>
              <a:rPr lang="en" b="1" i="1" dirty="0"/>
              <a:t>U</a:t>
            </a:r>
            <a:r>
              <a:rPr lang="en" b="1" i="1" baseline="-25000" dirty="0"/>
              <a:t>G</a:t>
            </a:r>
            <a:r>
              <a:rPr lang="en" b="1" dirty="0"/>
              <a:t> and </a:t>
            </a:r>
            <a:r>
              <a:rPr lang="en" b="1" i="1" dirty="0"/>
              <a:t>U</a:t>
            </a:r>
            <a:r>
              <a:rPr lang="en" b="1" i="1" baseline="-25000" dirty="0"/>
              <a:t>GM</a:t>
            </a:r>
            <a:endParaRPr b="1" i="1" baseline="-25000" dirty="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dirty="0"/>
              <a:t>Idle duration for sensitive for all types of resources</a:t>
            </a:r>
            <a:endParaRPr b="1" dirty="0"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387" y="77575"/>
            <a:ext cx="3205699" cy="12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4003" y="1326551"/>
            <a:ext cx="2902475" cy="16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5375" y="3051725"/>
            <a:ext cx="2979725" cy="184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Motivation: </a:t>
            </a:r>
            <a:r>
              <a:rPr lang="en" dirty="0"/>
              <a:t>Sensitivity to DT Settings</a:t>
            </a:r>
            <a:endParaRPr dirty="0"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311700" y="914575"/>
            <a:ext cx="5341500" cy="3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 = {GPUs, number of PS, workers, network Interconnections}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Settings tested on same workload (ResNet56 + CIFAR10, bs=512)</a:t>
            </a:r>
            <a:endParaRPr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V100 - P1W2 / ho-PCIe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2080Ti - P2W2 / he-40G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Titan RTX - P2W2 / he-40G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Results show that resources are highly sensitivity to DT Settings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00" y="674850"/>
            <a:ext cx="3147476" cy="1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3125" y="2808826"/>
            <a:ext cx="3243225" cy="18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200" y="616125"/>
            <a:ext cx="7442301" cy="25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611500" y="3240400"/>
            <a:ext cx="7860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Existing works: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Heavy focus on overall training time or iteration time, ignoring the actual resource utilization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 of fixed size mathematical modeling, simulation or ML; limited prediction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err="1"/>
              <a:t>Driple</a:t>
            </a:r>
            <a:r>
              <a:rPr lang="en" dirty="0"/>
              <a:t> Design</a:t>
            </a:r>
            <a:endParaRPr dirty="0"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50" y="957351"/>
            <a:ext cx="7888301" cy="16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656825" y="2762250"/>
            <a:ext cx="7888200" cy="16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Input Builder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Driple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Inspector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Builder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body" idx="1"/>
          </p:nvPr>
        </p:nvSpPr>
        <p:spPr>
          <a:xfrm>
            <a:off x="311700" y="2899400"/>
            <a:ext cx="8520600" cy="17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00" b="1"/>
              <a:t>Notations</a:t>
            </a:r>
            <a:r>
              <a:rPr lang="en" sz="1400"/>
              <a:t>: Graph = </a:t>
            </a:r>
            <a:r>
              <a:rPr lang="en" sz="1400" i="1"/>
              <a:t>G(N, E)</a:t>
            </a:r>
            <a:r>
              <a:rPr lang="en" sz="1400"/>
              <a:t>,   </a:t>
            </a:r>
            <a:r>
              <a:rPr lang="en" sz="1400" i="1"/>
              <a:t>n</a:t>
            </a:r>
            <a:r>
              <a:rPr lang="en" sz="1400" i="1" baseline="-25000"/>
              <a:t>i</a:t>
            </a:r>
            <a:r>
              <a:rPr lang="en" sz="1400" i="1"/>
              <a:t> ϵ (N),    X</a:t>
            </a:r>
            <a:r>
              <a:rPr lang="en" sz="1400" i="1" baseline="-25000"/>
              <a:t>n</a:t>
            </a:r>
            <a:r>
              <a:rPr lang="en" sz="1400"/>
              <a:t> is the features of node </a:t>
            </a:r>
            <a:r>
              <a:rPr lang="en" sz="1400" i="1"/>
              <a:t>n,   Ɲ( n</a:t>
            </a:r>
            <a:r>
              <a:rPr lang="en" sz="1400" i="1" baseline="-25000"/>
              <a:t>i </a:t>
            </a:r>
            <a:r>
              <a:rPr lang="en" sz="1400" i="1"/>
              <a:t>) </a:t>
            </a:r>
            <a:r>
              <a:rPr lang="en" sz="1400"/>
              <a:t>is the immediate neighbourhood of node </a:t>
            </a:r>
            <a:r>
              <a:rPr lang="en" sz="1400" i="1"/>
              <a:t>n</a:t>
            </a:r>
            <a:r>
              <a:rPr lang="en" sz="1400" i="1" baseline="-25000"/>
              <a:t>i</a:t>
            </a:r>
            <a:r>
              <a:rPr lang="en" sz="1400" i="1"/>
              <a:t> </a:t>
            </a:r>
            <a:endParaRPr sz="1400"/>
          </a:p>
          <a:p>
            <a:pPr marL="457200" lvl="0" indent="-3175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layer converted into low level operations, where operations become </a:t>
            </a:r>
            <a:r>
              <a:rPr lang="en" sz="1400" i="1"/>
              <a:t>n</a:t>
            </a:r>
            <a:r>
              <a:rPr lang="en" sz="1400"/>
              <a:t> in the Graph</a:t>
            </a:r>
            <a:endParaRPr sz="1400"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Eg. ADD, MATMUL</a:t>
            </a:r>
            <a:endParaRPr/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Other components such as hyperparameters, constants, input data all become either node or edges of the graph</a:t>
            </a:r>
            <a:endParaRPr sz="1400"/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Edges from </a:t>
            </a:r>
            <a:r>
              <a:rPr lang="en" sz="1400" i="1"/>
              <a:t>n</a:t>
            </a:r>
            <a:r>
              <a:rPr lang="en" sz="1400" i="1" baseline="-25000"/>
              <a:t>i</a:t>
            </a:r>
            <a:r>
              <a:rPr lang="en" sz="1400" i="1"/>
              <a:t> </a:t>
            </a:r>
            <a:r>
              <a:rPr lang="en" sz="1400"/>
              <a:t>to </a:t>
            </a:r>
            <a:r>
              <a:rPr lang="en" sz="1400" i="1"/>
              <a:t>n</a:t>
            </a:r>
            <a:r>
              <a:rPr lang="en" sz="1400" i="1" baseline="-25000"/>
              <a:t>j</a:t>
            </a:r>
            <a:r>
              <a:rPr lang="en" sz="1400" i="1"/>
              <a:t> </a:t>
            </a:r>
            <a:r>
              <a:rPr lang="en" sz="1400"/>
              <a:t> = </a:t>
            </a:r>
            <a:r>
              <a:rPr lang="en" sz="1400" i="1"/>
              <a:t>e</a:t>
            </a:r>
            <a:r>
              <a:rPr lang="en" sz="1400" i="1" baseline="-25000"/>
              <a:t>ij</a:t>
            </a:r>
            <a:r>
              <a:rPr lang="en" sz="1400" i="1"/>
              <a:t> =&gt;</a:t>
            </a:r>
            <a:r>
              <a:rPr lang="en" sz="1400"/>
              <a:t> Gives the execution order</a:t>
            </a:r>
            <a:endParaRPr sz="1400"/>
          </a:p>
        </p:txBody>
      </p:sp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00" y="737225"/>
            <a:ext cx="8615700" cy="18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 Builder: Grouping</a:t>
            </a:r>
            <a:endParaRPr dirty="0"/>
          </a:p>
        </p:txBody>
      </p:sp>
      <p:sp>
        <p:nvSpPr>
          <p:cNvPr id="148" name="Google Shape;148;p22"/>
          <p:cNvSpPr txBox="1"/>
          <p:nvPr/>
        </p:nvSpPr>
        <p:spPr>
          <a:xfrm>
            <a:off x="452400" y="725800"/>
            <a:ext cx="4435800" cy="3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A graph with </a:t>
            </a: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nodes is reduced into a graph of size </a:t>
            </a: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size of  |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 and  |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Enables Batching (Batching requires all the graph in a batch having same number of nodes)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Uniform Grouping :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Same </a:t>
            </a: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for all batches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Proportional Grouping: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Sort the graphs based on m, then group by batch size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log</a:t>
            </a:r>
            <a:r>
              <a:rPr lang="en" i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v;  v =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number of nodes in a batch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Grouping is done based on </a:t>
            </a: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fluid Communities algorithm. 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Randomly selects </a:t>
            </a: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seed nodes and group remaining nodes around those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250" y="725800"/>
            <a:ext cx="3652525" cy="19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 Builder (Cont.)</a:t>
            </a:r>
            <a:endParaRPr dirty="0"/>
          </a:p>
        </p:txBody>
      </p:sp>
      <p:sp>
        <p:nvSpPr>
          <p:cNvPr id="156" name="Google Shape;156;p23"/>
          <p:cNvSpPr txBox="1"/>
          <p:nvPr/>
        </p:nvSpPr>
        <p:spPr>
          <a:xfrm>
            <a:off x="452400" y="725800"/>
            <a:ext cx="4578600" cy="3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selected for </a:t>
            </a:r>
            <a:r>
              <a:rPr lang="en" b="1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b="1" i="1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are: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type (frequency encoding)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 Size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Grouped node size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features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Matrix: 	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matrix, 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|N|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Matrix: 	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matrix,  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 =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i="1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i="1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features, such as node type and tensor size.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000" y="1084425"/>
            <a:ext cx="4028900" cy="16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Driple</a:t>
            </a:r>
            <a:r>
              <a:rPr lang="en"/>
              <a:t> Inspector</a:t>
            </a: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526950" y="1877075"/>
            <a:ext cx="8152200" cy="26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Graph Layers perform update function(𝜙)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First layer: </a:t>
            </a:r>
            <a:r>
              <a:rPr lang="en" sz="1200">
                <a:solidFill>
                  <a:schemeClr val="dk1"/>
                </a:solidFill>
              </a:rPr>
              <a:t>𝜙</a:t>
            </a:r>
            <a:r>
              <a:rPr lang="en" sz="1200" i="1" baseline="-25000">
                <a:solidFill>
                  <a:schemeClr val="dk1"/>
                </a:solidFill>
              </a:rPr>
              <a:t>f</a:t>
            </a:r>
            <a:r>
              <a:rPr lang="en" sz="1200" i="1">
                <a:solidFill>
                  <a:schemeClr val="dk1"/>
                </a:solidFill>
              </a:rPr>
              <a:t> </a:t>
            </a:r>
            <a:endParaRPr sz="1200" i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Next Layers: 𝜙</a:t>
            </a:r>
            <a:r>
              <a:rPr lang="en" sz="1200" i="1" baseline="-25000">
                <a:solidFill>
                  <a:schemeClr val="dk1"/>
                </a:solidFill>
              </a:rPr>
              <a:t>r</a:t>
            </a:r>
            <a:r>
              <a:rPr lang="en" sz="1200" i="1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(Same weight/bias)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𝜙</a:t>
            </a:r>
            <a:r>
              <a:rPr lang="en" sz="1200" i="1" baseline="-25000">
                <a:solidFill>
                  <a:schemeClr val="dk1"/>
                </a:solidFill>
              </a:rPr>
              <a:t>r</a:t>
            </a:r>
            <a:r>
              <a:rPr lang="en" sz="1200" i="1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layers are repeated K times; K = m/2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Node embedding of node </a:t>
            </a:r>
            <a:r>
              <a:rPr lang="en" sz="1200" i="1">
                <a:solidFill>
                  <a:schemeClr val="dk1"/>
                </a:solidFill>
              </a:rPr>
              <a:t>n</a:t>
            </a:r>
            <a:r>
              <a:rPr lang="en" sz="1200" i="1" baseline="-25000">
                <a:solidFill>
                  <a:schemeClr val="dk1"/>
                </a:solidFill>
              </a:rPr>
              <a:t>i</a:t>
            </a:r>
            <a:r>
              <a:rPr lang="en" sz="1200" i="1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for layer </a:t>
            </a:r>
            <a:r>
              <a:rPr lang="en" sz="1200" i="1">
                <a:solidFill>
                  <a:schemeClr val="dk1"/>
                </a:solidFill>
              </a:rPr>
              <a:t>k </a:t>
            </a:r>
            <a:r>
              <a:rPr lang="en" sz="1200">
                <a:solidFill>
                  <a:schemeClr val="dk1"/>
                </a:solidFill>
              </a:rPr>
              <a:t>is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Graph Convolutional Network (GCN), Uses normalized mean for aggregation update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Gated Recurrent Units (GRU) used after each graph layer, Reduces over-smoothing problem in deep neural networks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525" y="3391550"/>
            <a:ext cx="295420" cy="3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2879" y="773200"/>
            <a:ext cx="6593372" cy="11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err="1"/>
              <a:t>Driple</a:t>
            </a:r>
            <a:r>
              <a:rPr lang="en" dirty="0"/>
              <a:t> Inspector (Cont.)</a:t>
            </a:r>
            <a:endParaRPr dirty="0"/>
          </a:p>
        </p:txBody>
      </p:sp>
      <p:sp>
        <p:nvSpPr>
          <p:cNvPr id="173" name="Google Shape;17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 l="-1120" r="1119"/>
          <a:stretch/>
        </p:blipFill>
        <p:spPr>
          <a:xfrm>
            <a:off x="543750" y="1064428"/>
            <a:ext cx="5677225" cy="4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958" y="674849"/>
            <a:ext cx="3829043" cy="3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 rotWithShape="1">
          <a:blip r:embed="rId5">
            <a:alphaModFix/>
          </a:blip>
          <a:srcRect l="-2410" r="2409"/>
          <a:stretch/>
        </p:blipFill>
        <p:spPr>
          <a:xfrm>
            <a:off x="467550" y="1558450"/>
            <a:ext cx="237033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>
            <a:spLocks noGrp="1"/>
          </p:cNvSpPr>
          <p:nvPr>
            <p:ph type="body" idx="1"/>
          </p:nvPr>
        </p:nvSpPr>
        <p:spPr>
          <a:xfrm>
            <a:off x="311700" y="2146925"/>
            <a:ext cx="8386500" cy="24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Graph Embedding (</a:t>
            </a:r>
            <a:r>
              <a:rPr lang="en" i="1">
                <a:solidFill>
                  <a:schemeClr val="dk1"/>
                </a:solidFill>
              </a:rPr>
              <a:t>h</a:t>
            </a:r>
            <a:r>
              <a:rPr lang="en" i="1" baseline="-25000">
                <a:solidFill>
                  <a:schemeClr val="dk1"/>
                </a:solidFill>
              </a:rPr>
              <a:t>Gl </a:t>
            </a:r>
            <a:r>
              <a:rPr lang="en" i="1">
                <a:solidFill>
                  <a:schemeClr val="dk1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for l</a:t>
            </a:r>
            <a:r>
              <a:rPr lang="en" baseline="30000">
                <a:solidFill>
                  <a:schemeClr val="dk1"/>
                </a:solidFill>
              </a:rPr>
              <a:t>th </a:t>
            </a:r>
            <a:r>
              <a:rPr lang="en">
                <a:solidFill>
                  <a:schemeClr val="dk1"/>
                </a:solidFill>
              </a:rPr>
              <a:t>graph in training data is</a:t>
            </a:r>
            <a:r>
              <a:rPr lang="en" i="1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produced by graph readout layer (</a:t>
            </a:r>
            <a:r>
              <a:rPr lang="en" i="1">
                <a:solidFill>
                  <a:schemeClr val="dk1"/>
                </a:solidFill>
              </a:rPr>
              <a:t>ρ</a:t>
            </a:r>
            <a:r>
              <a:rPr lang="en">
                <a:solidFill>
                  <a:schemeClr val="dk1"/>
                </a:solidFill>
              </a:rPr>
              <a:t>) after pooling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Set2set is used for pooling (Uses LSTM Neural Network)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MLP used on graph embeddings produced by </a:t>
            </a:r>
            <a:r>
              <a:rPr lang="en" i="1">
                <a:solidFill>
                  <a:schemeClr val="dk1"/>
                </a:solidFill>
              </a:rPr>
              <a:t>ρ</a:t>
            </a:r>
            <a:endParaRPr i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3 Fully Connected Layers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12 Prediction targets for resources consumption metrics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311700" y="225750"/>
            <a:ext cx="45645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Training of </a:t>
            </a:r>
            <a:r>
              <a:rPr lang="en-US" i="1" dirty="0" err="1"/>
              <a:t>Driple</a:t>
            </a:r>
            <a:r>
              <a:rPr lang="en-US" dirty="0"/>
              <a:t> Inspector</a:t>
            </a:r>
            <a:endParaRPr dirty="0"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"/>
          </p:nvPr>
        </p:nvSpPr>
        <p:spPr>
          <a:xfrm>
            <a:off x="382050" y="2105875"/>
            <a:ext cx="8452500" cy="25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Input builder generates the input features (graphs) for the inspector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DriplePerf generates the prediction targets for the data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Combining these two we can build the training data for Driple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DriplePerf: </a:t>
            </a:r>
            <a:r>
              <a:rPr lang="en"/>
              <a:t>Measures the resource consumption by executing the DT code. Performs K means clustering to divide the data points into burst and idle points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inspector is trained multiple iterations on the data produced by this way	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291" y="825274"/>
            <a:ext cx="5337584" cy="9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 (TL)</a:t>
            </a: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750" y="518801"/>
            <a:ext cx="3527751" cy="119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193775" y="742538"/>
            <a:ext cx="50445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Common Inspector for different settings: low accuracy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Different inspector for each setting: High training time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Transfer Learning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450" y="2073897"/>
            <a:ext cx="4055699" cy="9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0500" y="3626052"/>
            <a:ext cx="3482252" cy="9252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311700" y="1714775"/>
            <a:ext cx="45195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Fine-Tuning TL: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(𝜙</a:t>
            </a:r>
            <a:r>
              <a:rPr lang="en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GRU) has lower accuracy compared to others, whereas (𝜙</a:t>
            </a:r>
            <a:r>
              <a:rPr lang="en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MLP) has lowest training time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(𝜙</a:t>
            </a:r>
            <a:r>
              <a:rPr lang="en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MLP) was selected for fine tuning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311700" y="3164925"/>
            <a:ext cx="46620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𝜙</a:t>
            </a:r>
            <a:r>
              <a:rPr lang="en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Partitioning: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𝜙</a:t>
            </a:r>
            <a:r>
              <a:rPr lang="en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Layers needs to be partitioned in layers that use pre trained inspector parameters and layers that update parameters on TL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testing different ratios, it was selected to be ½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Evaluation: Design Choices of </a:t>
            </a:r>
            <a:r>
              <a:rPr lang="en" i="1" dirty="0" err="1"/>
              <a:t>Driple</a:t>
            </a:r>
            <a:endParaRPr i="1" dirty="0"/>
          </a:p>
        </p:txBody>
      </p:sp>
      <p:sp>
        <p:nvSpPr>
          <p:cNvPr id="203" name="Google Shape;20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 b="1"/>
              <a:t>Metric Used: </a:t>
            </a:r>
            <a:r>
              <a:rPr lang="en" sz="1400"/>
              <a:t>Normalized Root Mean Square Error (NRMSE) (average of 12 prediction targets)</a:t>
            </a:r>
            <a:endParaRPr sz="1400"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075" y="1288162"/>
            <a:ext cx="6132927" cy="161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/>
        </p:nvSpPr>
        <p:spPr>
          <a:xfrm>
            <a:off x="283800" y="2978025"/>
            <a:ext cx="8548500" cy="1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Input builder(grouping):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G(no grouping) has highest error, proportional has 46% lower, Uniform has 12 % lower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Inspector (GNN algorithm):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GCN has the lowest average NRMSE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Inspector (K):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Lowest average NRMSE given by </a:t>
            </a: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m/2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Times New Roman"/>
                <a:ea typeface="Times New Roman"/>
                <a:cs typeface="Times New Roman"/>
                <a:sym typeface="Times New Roman"/>
              </a:rPr>
              <a:t>Inspector (Readout Layer, 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ρ):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Lowest average NRMSE given by </a:t>
            </a:r>
            <a:r>
              <a:rPr lang="en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set2set 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Evaluation: TL Effectiveness</a:t>
            </a:r>
            <a:endParaRPr dirty="0"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TL on Inspector for V100-P1w2/ho-PCIe (Selected because it shows highest accuracy)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Average NRMSE is mostly similar or lower, Training time is highly reduced ( by 7.3X on average)</a:t>
            </a:r>
            <a:endParaRPr sz="1400"/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214" name="Google Shape;214;p29"/>
          <p:cNvPicPr preferRelativeResize="0"/>
          <p:nvPr/>
        </p:nvPicPr>
        <p:blipFill rotWithShape="1">
          <a:blip r:embed="rId3">
            <a:alphaModFix/>
          </a:blip>
          <a:srcRect t="10980" b="-10979"/>
          <a:stretch/>
        </p:blipFill>
        <p:spPr>
          <a:xfrm>
            <a:off x="992025" y="1903100"/>
            <a:ext cx="6793298" cy="14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900" y="3307600"/>
            <a:ext cx="6793298" cy="14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Prediction of Resource Consumption</a:t>
            </a:r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525" y="732324"/>
            <a:ext cx="7230448" cy="62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799" y="1592600"/>
            <a:ext cx="6055900" cy="262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/>
          <p:nvPr/>
        </p:nvSpPr>
        <p:spPr>
          <a:xfrm>
            <a:off x="435450" y="4276275"/>
            <a:ext cx="827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On average, the percentage errors are 11%, 9%, 17%, and 15%, for 𝑈</a:t>
            </a:r>
            <a:r>
              <a:rPr lang="en" baseline="-25000">
                <a:latin typeface="Times New Roman"/>
                <a:ea typeface="Times New Roman"/>
                <a:cs typeface="Times New Roman"/>
                <a:sym typeface="Times New Roman"/>
              </a:rPr>
              <a:t>𝐺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, 𝑈</a:t>
            </a:r>
            <a:r>
              <a:rPr lang="en" baseline="-25000">
                <a:latin typeface="Times New Roman"/>
                <a:ea typeface="Times New Roman"/>
                <a:cs typeface="Times New Roman"/>
                <a:sym typeface="Times New Roman"/>
              </a:rPr>
              <a:t>𝐺𝑀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, 𝑇</a:t>
            </a:r>
            <a:r>
              <a:rPr lang="en" baseline="-25000">
                <a:latin typeface="Times New Roman"/>
                <a:ea typeface="Times New Roman"/>
                <a:cs typeface="Times New Roman"/>
                <a:sym typeface="Times New Roman"/>
              </a:rPr>
              <a:t>𝑁𝑇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, and 𝑇</a:t>
            </a:r>
            <a:r>
              <a:rPr lang="en" baseline="-25000">
                <a:latin typeface="Times New Roman"/>
                <a:ea typeface="Times New Roman"/>
                <a:cs typeface="Times New Roman"/>
                <a:sym typeface="Times New Roman"/>
              </a:rPr>
              <a:t>𝑁𝑅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, respectively.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Evaluation: Applications of </a:t>
            </a:r>
            <a:r>
              <a:rPr lang="en" i="1" dirty="0" err="1"/>
              <a:t>Driple</a:t>
            </a:r>
            <a:endParaRPr i="1" dirty="0"/>
          </a:p>
        </p:txBody>
      </p:sp>
      <p:sp>
        <p:nvSpPr>
          <p:cNvPr id="230" name="Google Shape;23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31" name="Google Shape;2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175" y="672948"/>
            <a:ext cx="6576775" cy="19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 txBox="1"/>
          <p:nvPr/>
        </p:nvSpPr>
        <p:spPr>
          <a:xfrm>
            <a:off x="454650" y="2649138"/>
            <a:ext cx="8234700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lphaU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2080Ti has higher burst duration and lower idle duration, which means better U</a:t>
            </a:r>
            <a:r>
              <a:rPr lang="en" baseline="-25000">
                <a:latin typeface="Times New Roman"/>
                <a:ea typeface="Times New Roman"/>
                <a:cs typeface="Times New Roman"/>
                <a:sym typeface="Times New Roman"/>
              </a:rPr>
              <a:t>G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compared to V100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lphaU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Increasing the parameter Server from 1 to 2 Increases burst duration and decreases idle duration, overall execution time stays the same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lphaU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Observations for batch size change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lphaL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Large Batch sizes can be handled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lphaLcPeriod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Increasing batch sizes increases execution time by lower factor, which implies using large batch size can reduce overall training time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238" name="Google Shape;238;p32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3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GNN for predicting resource consumption for deep learning using DT on variety of workloads and settings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4 Key resources for prediction; For each resource, </a:t>
            </a:r>
            <a:r>
              <a:rPr lang="en" sz="1600" b="1" i="1"/>
              <a:t>Driple</a:t>
            </a:r>
            <a:r>
              <a:rPr lang="en" sz="1600"/>
              <a:t> predicts 3 metrics, burst amount, burst duration and idle duration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i="1"/>
              <a:t>GPU utilization		( U</a:t>
            </a:r>
            <a:r>
              <a:rPr lang="en" sz="1200" i="1" baseline="-25000"/>
              <a:t>G </a:t>
            </a:r>
            <a:r>
              <a:rPr lang="en" sz="1200" i="1"/>
              <a:t>)</a:t>
            </a:r>
            <a:endParaRPr sz="1200" i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i="1"/>
              <a:t>GPU Memory Utilization 	( U</a:t>
            </a:r>
            <a:r>
              <a:rPr lang="en" sz="1200" i="1" baseline="-25000"/>
              <a:t>GM</a:t>
            </a:r>
            <a:r>
              <a:rPr lang="en" sz="1200" i="1"/>
              <a:t> )</a:t>
            </a:r>
            <a:endParaRPr sz="1200" i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i="1"/>
              <a:t>Network Tx Throughput 	( T</a:t>
            </a:r>
            <a:r>
              <a:rPr lang="en" sz="1200" i="1" baseline="-25000"/>
              <a:t>NT </a:t>
            </a:r>
            <a:r>
              <a:rPr lang="en" sz="1200" i="1"/>
              <a:t>)</a:t>
            </a:r>
            <a:endParaRPr sz="1200" i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i="1"/>
              <a:t>Network Rx Throughput 	( T</a:t>
            </a:r>
            <a:r>
              <a:rPr lang="en" sz="1200" i="1" baseline="-25000"/>
              <a:t>RT</a:t>
            </a:r>
            <a:r>
              <a:rPr lang="en" sz="1200" i="1"/>
              <a:t> )</a:t>
            </a:r>
            <a:endParaRPr sz="1200" i="1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i="1"/>
              <a:t>Driple</a:t>
            </a:r>
            <a:r>
              <a:rPr lang="en" sz="1600"/>
              <a:t> can achieve good prediction accuracy for resource consumption on variety of DT workloads and settings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Use of Transfer learning reduces the required dataset by up to 2.5X and training time by 7.3X while maintaining prediction accuracy of a model without transfer learning</a:t>
            </a:r>
            <a:endParaRPr sz="1600"/>
          </a:p>
        </p:txBody>
      </p:sp>
      <p:sp>
        <p:nvSpPr>
          <p:cNvPr id="239" name="Google Shape;23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>
            <a:spLocks noGrp="1"/>
          </p:cNvSpPr>
          <p:nvPr>
            <p:ph type="title"/>
          </p:nvPr>
        </p:nvSpPr>
        <p:spPr>
          <a:xfrm>
            <a:off x="311700" y="222525"/>
            <a:ext cx="8405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45" name="Google Shape;24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body" idx="1"/>
          </p:nvPr>
        </p:nvSpPr>
        <p:spPr>
          <a:xfrm>
            <a:off x="311700" y="822375"/>
            <a:ext cx="8520600" cy="3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</a:t>
            </a:r>
            <a:r>
              <a:rPr lang="en" i="1"/>
              <a:t>Driple</a:t>
            </a:r>
            <a:r>
              <a:rPr lang="en"/>
              <a:t> on other DT strategies such as all reduce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Driple</a:t>
            </a:r>
            <a:r>
              <a:rPr lang="en"/>
              <a:t> uses Tensorflow API for graph extraction, other libraries also use  graph to store the model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Including resources of PS and workers other than </a:t>
            </a:r>
            <a:r>
              <a:rPr lang="en" i="1"/>
              <a:t>U</a:t>
            </a:r>
            <a:r>
              <a:rPr lang="en" i="1" baseline="-25000"/>
              <a:t>G</a:t>
            </a:r>
            <a:r>
              <a:rPr lang="en" i="1"/>
              <a:t>, U</a:t>
            </a:r>
            <a:r>
              <a:rPr lang="en" i="1" baseline="-25000"/>
              <a:t>GM</a:t>
            </a:r>
            <a:r>
              <a:rPr lang="en" i="1"/>
              <a:t>, T</a:t>
            </a:r>
            <a:r>
              <a:rPr lang="en" i="1" baseline="-25000"/>
              <a:t>NT</a:t>
            </a:r>
            <a:r>
              <a:rPr lang="en" i="1"/>
              <a:t> </a:t>
            </a:r>
            <a:r>
              <a:rPr lang="en"/>
              <a:t>and</a:t>
            </a:r>
            <a:r>
              <a:rPr lang="en" i="1"/>
              <a:t> T</a:t>
            </a:r>
            <a:r>
              <a:rPr lang="en" i="1" baseline="-25000"/>
              <a:t>NR</a:t>
            </a:r>
            <a:endParaRPr i="1" baseline="-250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features to include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 time for dataset generation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Boundary of TL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1499</Words>
  <Application>Microsoft Macintosh PowerPoint</Application>
  <PresentationFormat>On-screen Show (16:9)</PresentationFormat>
  <Paragraphs>191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Roboto Thin</vt:lpstr>
      <vt:lpstr>Arial</vt:lpstr>
      <vt:lpstr>Times New Roman</vt:lpstr>
      <vt:lpstr>Simple Light</vt:lpstr>
      <vt:lpstr>Prediction of the Resource Consumption of Distributed Deep Learning Systems</vt:lpstr>
      <vt:lpstr>Background: Distributed Training (DT)</vt:lpstr>
      <vt:lpstr>Background: Graph Neural Networks (GNN)</vt:lpstr>
      <vt:lpstr>Motivating Example</vt:lpstr>
      <vt:lpstr>Motivation: Sensitivity to DT workloads</vt:lpstr>
      <vt:lpstr>Motivation: Sensitivity to DT Settings</vt:lpstr>
      <vt:lpstr>Related Work</vt:lpstr>
      <vt:lpstr>Driple Design</vt:lpstr>
      <vt:lpstr>Input Builder</vt:lpstr>
      <vt:lpstr>Input Builder: Grouping</vt:lpstr>
      <vt:lpstr>Input Builder (Cont.)</vt:lpstr>
      <vt:lpstr>Driple Inspector</vt:lpstr>
      <vt:lpstr>Driple Inspector (Cont.)</vt:lpstr>
      <vt:lpstr>Training of Driple Inspector</vt:lpstr>
      <vt:lpstr>Transfer Learning (TL)</vt:lpstr>
      <vt:lpstr>Evaluation: Design Choices of Driple</vt:lpstr>
      <vt:lpstr>Evaluation: TL Effectiveness</vt:lpstr>
      <vt:lpstr>Evaluation: Prediction of Resource Consumption</vt:lpstr>
      <vt:lpstr>Evaluation: Applications of Driple</vt:lpstr>
      <vt:lpstr>Contributions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the Resource Consumption of Distributed Deep Learning Systems</dc:title>
  <cp:lastModifiedBy>Shu, Tong</cp:lastModifiedBy>
  <cp:revision>11</cp:revision>
  <dcterms:modified xsi:type="dcterms:W3CDTF">2023-10-11T22:29:24Z</dcterms:modified>
</cp:coreProperties>
</file>