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ECDD-A44E-2729-5806-F92C049A4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7F286-BC2A-E5BA-113F-E695AEA78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D8DB7-26B7-BDE8-5CC2-34935DB21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C0C01-8DBD-62BA-BFF4-E9E50863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F5AB0-1518-9B3D-57CC-AFDDCE8D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0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F8C4-E29D-1F16-AC41-DA2E043EE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D834-C025-7CE1-AD01-2B74F7A8E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C6A1F-A168-1561-79AD-E3B20FF6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B7E4-BB76-92F0-F150-FC318712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787C7-12E7-F5DD-DA56-7066A80C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4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087D-8993-C60F-0BBB-DDC7EED8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93E78-D07E-3D95-8371-03A59654F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9D2E5-56E1-8F1C-CE78-79916DA7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2EE75-6EEA-EC87-0727-73335184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C7F32-69C0-5D6D-F1DE-274469C5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4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2FAE-F2A1-A4CE-D9CE-FEBF0C9E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7BDC-72FD-0C98-5B41-9FC20392A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4A4C4-2CD8-436E-2EBA-87338872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8EBD3-778B-894C-817F-A081122C0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9911C-DFDB-0D6E-0186-C29AACB3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F194B-03B6-9F65-6D97-E1CF1EE9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2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761F-85A4-3A48-E52D-85077504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01A5B-8707-E988-36EB-1D1C2ADFC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8273D-CBD5-D289-D0DB-E5C2B0FA5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7DE059-3752-EBB6-8185-32FE4363D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4F33D-AEC2-47EC-9C7A-0E6B06BC7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E5DAC0-D4A7-8B16-41DC-0471108F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2014B-158D-0917-2A49-40366D60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43FF81-1B71-9481-CC55-4B573A3A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EDC5-6710-D2BC-830C-10853EFE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3C48A-E893-428E-3291-7DFCDB08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9D899-5C5A-6AB4-B18B-405C5C4D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88EF1-0FFB-DD00-D255-6A5DD48F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0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B7407-CD0D-AD7D-8AAB-0C6D7943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E9039-6D24-CA7F-39A5-1251FB4A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CF1A0-B2FD-DF6B-1F43-3A0214B4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4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C7C82-C7D0-F4C0-8CD0-A0A01E4A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475A-0B4E-FB17-B716-4BB9F1B6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17EA-4945-3D1D-8D15-0E5D3F7D0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F3E38-E7F5-34DA-5BD1-5D21CC3C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1FBD7-50DC-7EE3-DCD1-385AE259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8FF84-749B-9328-9691-C0375B36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4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60A4-D573-E5CF-197B-4E6D7A05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6A1ECB-6685-DA81-B69D-D1393511B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D234C-516D-96B6-8A9E-4E5D39B6E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0017B-ECBF-302C-CF18-91BD5644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4B064-BEA2-61DE-9565-6308C402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CB2F7-C1F7-E814-BAB7-60577FC2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5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4747-9CF4-DE62-4642-0F8C64F2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F6A3E-75BF-8F04-0A4A-5DF0D6EE3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A809-1101-F969-0200-1972A816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AA9C9-3956-A7F1-23A3-1381C48D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0FB50-898C-41BF-B50A-0C4F430A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51374-401F-8CC6-0F5E-F72A0A4B9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1498C-F3EB-01D2-935D-FE5285D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30774-5AD9-62C1-B5B2-2D476BD4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DCA15-D8BC-D7F4-676A-C8E39E7B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80680-97F1-2F8B-694A-8BF8F71D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0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D7E12-22E5-02B2-D473-BE87BC4D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15D41-2431-ABD4-BC15-CA8D0686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22D1-3D32-C139-8C68-FFFCDAC59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E2910-B65F-4D8B-828A-2C07693511C2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B770-6393-A215-EBA9-841DAE079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3D003-A813-601B-9693-3562290CA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E80D0-5A67-47DD-9B76-4E24E6062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0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a.wikipedia.org/wiki/File:Tick_green_modern.sv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F40C-20E2-541B-1E10-C6CACA260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SEAL: Link Prediction Based on Graph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D80D2-8EEA-2B3A-2873-CA7BEE0352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Authors: </a:t>
            </a:r>
            <a:r>
              <a:rPr lang="en-US" dirty="0" err="1"/>
              <a:t>Muhan</a:t>
            </a:r>
            <a:r>
              <a:rPr lang="en-US" dirty="0"/>
              <a:t> Zhang and </a:t>
            </a:r>
            <a:r>
              <a:rPr lang="en-US" dirty="0" err="1"/>
              <a:t>Yixin</a:t>
            </a:r>
            <a:r>
              <a:rPr lang="en-US" dirty="0"/>
              <a:t> Chen</a:t>
            </a:r>
          </a:p>
          <a:p>
            <a:r>
              <a:rPr lang="en-US" dirty="0"/>
              <a:t>Presenter: </a:t>
            </a:r>
            <a:r>
              <a:rPr lang="en-US" dirty="0" err="1"/>
              <a:t>Dhroov</a:t>
            </a:r>
            <a:r>
              <a:rPr lang="en-US" dirty="0"/>
              <a:t> Pandey</a:t>
            </a:r>
          </a:p>
        </p:txBody>
      </p:sp>
    </p:spTree>
    <p:extLst>
      <p:ext uri="{BB962C8B-B14F-4D97-AF65-F5344CB8AC3E}">
        <p14:creationId xmlns:p14="http://schemas.microsoft.com/office/powerpoint/2010/main" val="3898792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A8EE9D-0C61-8EC9-7BD1-292CF2348F7E}"/>
              </a:ext>
            </a:extLst>
          </p:cNvPr>
          <p:cNvSpPr txBox="1"/>
          <p:nvPr/>
        </p:nvSpPr>
        <p:spPr>
          <a:xfrm>
            <a:off x="1133475" y="666750"/>
            <a:ext cx="4149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Link Prediction Problem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B31304-09C5-5FA1-9B60-2A511ECB6F9E}"/>
              </a:ext>
            </a:extLst>
          </p:cNvPr>
          <p:cNvSpPr/>
          <p:nvPr/>
        </p:nvSpPr>
        <p:spPr>
          <a:xfrm>
            <a:off x="2878840" y="1843099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F6B949-25C7-C10B-99D0-421249908DA7}"/>
              </a:ext>
            </a:extLst>
          </p:cNvPr>
          <p:cNvSpPr/>
          <p:nvPr/>
        </p:nvSpPr>
        <p:spPr>
          <a:xfrm>
            <a:off x="3462004" y="2394031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264EA1-96E2-2BB0-2590-1445125EB1EC}"/>
              </a:ext>
            </a:extLst>
          </p:cNvPr>
          <p:cNvSpPr/>
          <p:nvPr/>
        </p:nvSpPr>
        <p:spPr>
          <a:xfrm>
            <a:off x="3079449" y="3066259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70D77D-D39E-6206-C5A5-BCD58F39F759}"/>
              </a:ext>
            </a:extLst>
          </p:cNvPr>
          <p:cNvSpPr/>
          <p:nvPr/>
        </p:nvSpPr>
        <p:spPr>
          <a:xfrm>
            <a:off x="4298648" y="3066259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0BBF56-56A2-3458-4378-956F0E5BC169}"/>
              </a:ext>
            </a:extLst>
          </p:cNvPr>
          <p:cNvSpPr/>
          <p:nvPr/>
        </p:nvSpPr>
        <p:spPr>
          <a:xfrm>
            <a:off x="1892688" y="3062494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DEA003-8CF8-2BE0-5E7A-963D050C9572}"/>
              </a:ext>
            </a:extLst>
          </p:cNvPr>
          <p:cNvSpPr/>
          <p:nvPr/>
        </p:nvSpPr>
        <p:spPr>
          <a:xfrm>
            <a:off x="4236445" y="2034377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026578-3C0C-7408-FBF5-568CD59665A1}"/>
              </a:ext>
            </a:extLst>
          </p:cNvPr>
          <p:cNvSpPr/>
          <p:nvPr/>
        </p:nvSpPr>
        <p:spPr>
          <a:xfrm>
            <a:off x="5713445" y="2038954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827710-24C1-8F80-B76D-CCA38375BF63}"/>
              </a:ext>
            </a:extLst>
          </p:cNvPr>
          <p:cNvSpPr/>
          <p:nvPr/>
        </p:nvSpPr>
        <p:spPr>
          <a:xfrm>
            <a:off x="5441065" y="3062495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2BFD50-A488-44E1-F391-FA1E5BC9D16B}"/>
              </a:ext>
            </a:extLst>
          </p:cNvPr>
          <p:cNvSpPr/>
          <p:nvPr/>
        </p:nvSpPr>
        <p:spPr>
          <a:xfrm>
            <a:off x="4900646" y="3848740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9F476D8-CA8D-51C1-961B-2C46049AFBC0}"/>
              </a:ext>
            </a:extLst>
          </p:cNvPr>
          <p:cNvSpPr/>
          <p:nvPr/>
        </p:nvSpPr>
        <p:spPr>
          <a:xfrm>
            <a:off x="6582663" y="3017185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10BC3B-5E67-FC47-DE23-683360C0033A}"/>
              </a:ext>
            </a:extLst>
          </p:cNvPr>
          <p:cNvCxnSpPr>
            <a:stCxn id="3" idx="5"/>
            <a:endCxn id="4" idx="1"/>
          </p:cNvCxnSpPr>
          <p:nvPr/>
        </p:nvCxnSpPr>
        <p:spPr>
          <a:xfrm>
            <a:off x="3205371" y="2169630"/>
            <a:ext cx="312657" cy="280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577EB8-A3BF-0EC6-B5F2-AC35722CEF9F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3462004" y="3257537"/>
            <a:ext cx="83664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1453693-F359-D27B-00F1-27D67CDA69A3}"/>
              </a:ext>
            </a:extLst>
          </p:cNvPr>
          <p:cNvCxnSpPr>
            <a:cxnSpLocks/>
            <a:stCxn id="4" idx="2"/>
            <a:endCxn id="7" idx="7"/>
          </p:cNvCxnSpPr>
          <p:nvPr/>
        </p:nvCxnSpPr>
        <p:spPr>
          <a:xfrm flipH="1">
            <a:off x="2219219" y="2585309"/>
            <a:ext cx="1242785" cy="5332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0A661A-03A3-F003-C5B5-796544A44363}"/>
              </a:ext>
            </a:extLst>
          </p:cNvPr>
          <p:cNvCxnSpPr>
            <a:cxnSpLocks/>
            <a:stCxn id="5" idx="7"/>
            <a:endCxn id="4" idx="4"/>
          </p:cNvCxnSpPr>
          <p:nvPr/>
        </p:nvCxnSpPr>
        <p:spPr>
          <a:xfrm flipV="1">
            <a:off x="3405980" y="2776586"/>
            <a:ext cx="247302" cy="3456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F0D9B5-4029-CD9D-75B7-6A1732232F03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4427723" y="2416932"/>
            <a:ext cx="62203" cy="6493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174818-18E5-9B9F-0F38-F49677E89459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3261395" y="2034377"/>
            <a:ext cx="975050" cy="1912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6777321-D407-7B02-2202-D156307A03D9}"/>
              </a:ext>
            </a:extLst>
          </p:cNvPr>
          <p:cNvCxnSpPr>
            <a:stCxn id="6" idx="5"/>
            <a:endCxn id="17" idx="1"/>
          </p:cNvCxnSpPr>
          <p:nvPr/>
        </p:nvCxnSpPr>
        <p:spPr>
          <a:xfrm>
            <a:off x="4625179" y="3392790"/>
            <a:ext cx="331491" cy="511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EC4C9AD-5EE5-0FC1-18FF-A3ABBF58CD57}"/>
              </a:ext>
            </a:extLst>
          </p:cNvPr>
          <p:cNvCxnSpPr>
            <a:stCxn id="17" idx="7"/>
            <a:endCxn id="16" idx="3"/>
          </p:cNvCxnSpPr>
          <p:nvPr/>
        </p:nvCxnSpPr>
        <p:spPr>
          <a:xfrm flipV="1">
            <a:off x="5227177" y="3389026"/>
            <a:ext cx="269912" cy="5157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C5B9DE-1D6B-AD7C-ACE3-AF43E5D54095}"/>
              </a:ext>
            </a:extLst>
          </p:cNvPr>
          <p:cNvCxnSpPr>
            <a:cxnSpLocks/>
            <a:stCxn id="18" idx="1"/>
            <a:endCxn id="15" idx="5"/>
          </p:cNvCxnSpPr>
          <p:nvPr/>
        </p:nvCxnSpPr>
        <p:spPr>
          <a:xfrm flipH="1" flipV="1">
            <a:off x="6039976" y="2365485"/>
            <a:ext cx="598711" cy="707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CA031F8-6752-4B5F-6C66-31458B549DF2}"/>
              </a:ext>
            </a:extLst>
          </p:cNvPr>
          <p:cNvCxnSpPr>
            <a:cxnSpLocks/>
            <a:stCxn id="16" idx="0"/>
            <a:endCxn id="15" idx="3"/>
          </p:cNvCxnSpPr>
          <p:nvPr/>
        </p:nvCxnSpPr>
        <p:spPr>
          <a:xfrm flipV="1">
            <a:off x="5632343" y="2365485"/>
            <a:ext cx="137126" cy="6970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F278D7F-8F36-B2FF-5065-492EE6603E8B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 flipV="1">
            <a:off x="5823620" y="3208463"/>
            <a:ext cx="759043" cy="453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0ADBA20-E35A-182C-3A3C-F80EE0AB90E7}"/>
              </a:ext>
            </a:extLst>
          </p:cNvPr>
          <p:cNvCxnSpPr>
            <a:stCxn id="6" idx="6"/>
            <a:endCxn id="16" idx="2"/>
          </p:cNvCxnSpPr>
          <p:nvPr/>
        </p:nvCxnSpPr>
        <p:spPr>
          <a:xfrm flipV="1">
            <a:off x="4681203" y="3253773"/>
            <a:ext cx="759862" cy="376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8BAD422-6F14-50C5-7135-7D6EAB99632C}"/>
              </a:ext>
            </a:extLst>
          </p:cNvPr>
          <p:cNvSpPr txBox="1"/>
          <p:nvPr/>
        </p:nvSpPr>
        <p:spPr>
          <a:xfrm>
            <a:off x="4804755" y="291252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Link?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188B0BD-0038-EA99-D0A0-47E2D8D5AFC2}"/>
              </a:ext>
            </a:extLst>
          </p:cNvPr>
          <p:cNvSpPr/>
          <p:nvPr/>
        </p:nvSpPr>
        <p:spPr>
          <a:xfrm>
            <a:off x="7015175" y="1592843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7432F73-3C86-358D-9A89-B8B42B72AAE5}"/>
              </a:ext>
            </a:extLst>
          </p:cNvPr>
          <p:cNvSpPr/>
          <p:nvPr/>
        </p:nvSpPr>
        <p:spPr>
          <a:xfrm>
            <a:off x="7772997" y="2039340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4301F3D-0B44-3958-0CD4-DB2ACC6EF133}"/>
              </a:ext>
            </a:extLst>
          </p:cNvPr>
          <p:cNvSpPr/>
          <p:nvPr/>
        </p:nvSpPr>
        <p:spPr>
          <a:xfrm>
            <a:off x="7215784" y="2816003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98B0DB4-668D-7DD7-2138-9C258AF6916D}"/>
              </a:ext>
            </a:extLst>
          </p:cNvPr>
          <p:cNvSpPr/>
          <p:nvPr/>
        </p:nvSpPr>
        <p:spPr>
          <a:xfrm>
            <a:off x="6486969" y="4161924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5773B11-91F1-B2D5-2783-500BDDA13B48}"/>
              </a:ext>
            </a:extLst>
          </p:cNvPr>
          <p:cNvCxnSpPr>
            <a:stCxn id="57" idx="5"/>
            <a:endCxn id="58" idx="1"/>
          </p:cNvCxnSpPr>
          <p:nvPr/>
        </p:nvCxnSpPr>
        <p:spPr>
          <a:xfrm>
            <a:off x="7341706" y="1919374"/>
            <a:ext cx="487315" cy="1759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49C16A7-2F1B-CBFF-27DC-FD70F4AF8020}"/>
              </a:ext>
            </a:extLst>
          </p:cNvPr>
          <p:cNvCxnSpPr>
            <a:cxnSpLocks/>
            <a:stCxn id="18" idx="4"/>
            <a:endCxn id="60" idx="7"/>
          </p:cNvCxnSpPr>
          <p:nvPr/>
        </p:nvCxnSpPr>
        <p:spPr>
          <a:xfrm>
            <a:off x="6773941" y="3399740"/>
            <a:ext cx="39559" cy="8182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FA83C9C-BD65-6F8B-3FAA-64268302E7C7}"/>
              </a:ext>
            </a:extLst>
          </p:cNvPr>
          <p:cNvCxnSpPr>
            <a:cxnSpLocks/>
            <a:stCxn id="59" idx="7"/>
            <a:endCxn id="58" idx="4"/>
          </p:cNvCxnSpPr>
          <p:nvPr/>
        </p:nvCxnSpPr>
        <p:spPr>
          <a:xfrm flipV="1">
            <a:off x="7542315" y="2421895"/>
            <a:ext cx="421960" cy="4501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245C1E6-E97D-369B-6724-24EC546828BE}"/>
              </a:ext>
            </a:extLst>
          </p:cNvPr>
          <p:cNvCxnSpPr>
            <a:cxnSpLocks/>
            <a:stCxn id="57" idx="3"/>
            <a:endCxn id="18" idx="0"/>
          </p:cNvCxnSpPr>
          <p:nvPr/>
        </p:nvCxnSpPr>
        <p:spPr>
          <a:xfrm flipH="1">
            <a:off x="6773941" y="1919374"/>
            <a:ext cx="297258" cy="10978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D5FBACD-A006-DE13-BB1D-00F9ED717020}"/>
              </a:ext>
            </a:extLst>
          </p:cNvPr>
          <p:cNvCxnSpPr>
            <a:cxnSpLocks/>
            <a:stCxn id="59" idx="3"/>
            <a:endCxn id="18" idx="6"/>
          </p:cNvCxnSpPr>
          <p:nvPr/>
        </p:nvCxnSpPr>
        <p:spPr>
          <a:xfrm flipH="1">
            <a:off x="6965218" y="3142534"/>
            <a:ext cx="306590" cy="659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8B441A6-CDB6-4E70-C5C7-BD1EFA2B880A}"/>
              </a:ext>
            </a:extLst>
          </p:cNvPr>
          <p:cNvSpPr txBox="1"/>
          <p:nvPr/>
        </p:nvSpPr>
        <p:spPr>
          <a:xfrm>
            <a:off x="729274" y="4908158"/>
            <a:ext cx="1073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Applications in Recommendation systems, Knowledge graph completion, metabolic network reconstruction, etc.</a:t>
            </a:r>
          </a:p>
        </p:txBody>
      </p:sp>
    </p:spTree>
    <p:extLst>
      <p:ext uri="{BB962C8B-B14F-4D97-AF65-F5344CB8AC3E}">
        <p14:creationId xmlns:p14="http://schemas.microsoft.com/office/powerpoint/2010/main" val="1788876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E90A8-1DBF-1F73-B3F2-C272D74A918C}"/>
              </a:ext>
            </a:extLst>
          </p:cNvPr>
          <p:cNvSpPr txBox="1"/>
          <p:nvPr/>
        </p:nvSpPr>
        <p:spPr>
          <a:xfrm>
            <a:off x="802432" y="681135"/>
            <a:ext cx="4062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Heuristics Based Approach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E321FF-177D-672F-55CA-C0D0A21DBEAF}"/>
              </a:ext>
            </a:extLst>
          </p:cNvPr>
          <p:cNvSpPr/>
          <p:nvPr/>
        </p:nvSpPr>
        <p:spPr>
          <a:xfrm>
            <a:off x="7492828" y="2263402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E9BCE5-5155-7B99-77A9-93A6D82DDA59}"/>
              </a:ext>
            </a:extLst>
          </p:cNvPr>
          <p:cNvSpPr/>
          <p:nvPr/>
        </p:nvSpPr>
        <p:spPr>
          <a:xfrm>
            <a:off x="7110273" y="2935630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9B342C-215B-9BA4-DDD3-89B122ACC194}"/>
              </a:ext>
            </a:extLst>
          </p:cNvPr>
          <p:cNvSpPr/>
          <p:nvPr/>
        </p:nvSpPr>
        <p:spPr>
          <a:xfrm>
            <a:off x="8329472" y="2935630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4BCAEF-4C03-9A1F-567E-76983A2363EB}"/>
              </a:ext>
            </a:extLst>
          </p:cNvPr>
          <p:cNvSpPr/>
          <p:nvPr/>
        </p:nvSpPr>
        <p:spPr>
          <a:xfrm>
            <a:off x="8267269" y="1903748"/>
            <a:ext cx="382555" cy="38255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B10471-F7EB-A620-A290-92FB98335A56}"/>
              </a:ext>
            </a:extLst>
          </p:cNvPr>
          <p:cNvSpPr/>
          <p:nvPr/>
        </p:nvSpPr>
        <p:spPr>
          <a:xfrm>
            <a:off x="9744269" y="1908325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CBA9D7-58AE-289E-A529-1F9FDDAC2E16}"/>
              </a:ext>
            </a:extLst>
          </p:cNvPr>
          <p:cNvSpPr/>
          <p:nvPr/>
        </p:nvSpPr>
        <p:spPr>
          <a:xfrm>
            <a:off x="9471889" y="2931866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7AA5F9-AF87-711C-BF5C-ED0A3AA30D75}"/>
              </a:ext>
            </a:extLst>
          </p:cNvPr>
          <p:cNvSpPr/>
          <p:nvPr/>
        </p:nvSpPr>
        <p:spPr>
          <a:xfrm>
            <a:off x="8931470" y="3718111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1BEEC5-768F-D675-6B2E-FFB0825F1C33}"/>
              </a:ext>
            </a:extLst>
          </p:cNvPr>
          <p:cNvSpPr/>
          <p:nvPr/>
        </p:nvSpPr>
        <p:spPr>
          <a:xfrm>
            <a:off x="10613487" y="2886556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C255F4-D4DD-22C1-50DB-F09C8D74217F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7236195" y="2039001"/>
            <a:ext cx="312657" cy="280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53790-E99A-6AA4-903B-7B67BB31DB39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7492828" y="3126908"/>
            <a:ext cx="83664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EEFCC3-147D-EA5E-6C47-6914E8C6E21E}"/>
              </a:ext>
            </a:extLst>
          </p:cNvPr>
          <p:cNvCxnSpPr>
            <a:cxnSpLocks/>
            <a:stCxn id="5" idx="7"/>
            <a:endCxn id="4" idx="4"/>
          </p:cNvCxnSpPr>
          <p:nvPr/>
        </p:nvCxnSpPr>
        <p:spPr>
          <a:xfrm flipV="1">
            <a:off x="7436804" y="2645957"/>
            <a:ext cx="247302" cy="3456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E5141A-3B88-E287-AD90-F9055095B537}"/>
              </a:ext>
            </a:extLst>
          </p:cNvPr>
          <p:cNvCxnSpPr>
            <a:stCxn id="7" idx="4"/>
            <a:endCxn id="6" idx="0"/>
          </p:cNvCxnSpPr>
          <p:nvPr/>
        </p:nvCxnSpPr>
        <p:spPr>
          <a:xfrm>
            <a:off x="8458547" y="2286303"/>
            <a:ext cx="62203" cy="6493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4D69C-8D79-002B-4228-39C21EF1A600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7292219" y="1903748"/>
            <a:ext cx="975050" cy="1912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579B11-D549-92A5-921E-38232D82D649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8656003" y="3262161"/>
            <a:ext cx="331491" cy="511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960A3-DA7B-A5EE-B87F-B8D661B9B75F}"/>
              </a:ext>
            </a:extLst>
          </p:cNvPr>
          <p:cNvCxnSpPr>
            <a:stCxn id="10" idx="7"/>
            <a:endCxn id="9" idx="3"/>
          </p:cNvCxnSpPr>
          <p:nvPr/>
        </p:nvCxnSpPr>
        <p:spPr>
          <a:xfrm flipV="1">
            <a:off x="9258001" y="3258397"/>
            <a:ext cx="269912" cy="5157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9F216B-07D3-89B7-2D25-E38597847AF1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10070800" y="2234856"/>
            <a:ext cx="598711" cy="707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DDCD67-2FC7-258C-20B4-6DDBC45CAC90}"/>
              </a:ext>
            </a:extLst>
          </p:cNvPr>
          <p:cNvCxnSpPr>
            <a:cxnSpLocks/>
            <a:stCxn id="9" idx="0"/>
            <a:endCxn id="8" idx="3"/>
          </p:cNvCxnSpPr>
          <p:nvPr/>
        </p:nvCxnSpPr>
        <p:spPr>
          <a:xfrm flipV="1">
            <a:off x="9663167" y="2234856"/>
            <a:ext cx="137126" cy="6970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EDB83F-C08B-1216-FA08-3BF06BC79C38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9854444" y="3077834"/>
            <a:ext cx="759043" cy="453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CDEEDA-26BF-E001-4A2A-F8BA169DE597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8712027" y="3123144"/>
            <a:ext cx="759862" cy="376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F601470-8210-76E4-5F13-7A94F2A6B24B}"/>
              </a:ext>
            </a:extLst>
          </p:cNvPr>
          <p:cNvSpPr txBox="1"/>
          <p:nvPr/>
        </p:nvSpPr>
        <p:spPr>
          <a:xfrm>
            <a:off x="8835579" y="2781894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Link?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D51D88-F871-6EED-D56F-0A413B905835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10804765" y="3269111"/>
            <a:ext cx="39559" cy="8182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DEFA2D6-2C95-13C2-E104-4A80B0D17DB7}"/>
              </a:ext>
            </a:extLst>
          </p:cNvPr>
          <p:cNvSpPr txBox="1"/>
          <p:nvPr/>
        </p:nvSpPr>
        <p:spPr>
          <a:xfrm>
            <a:off x="7911150" y="4230085"/>
            <a:ext cx="284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Common Neighbor Heuristic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A40B5F-7116-0F95-EE12-268938EAAAEB}"/>
              </a:ext>
            </a:extLst>
          </p:cNvPr>
          <p:cNvSpPr txBox="1"/>
          <p:nvPr/>
        </p:nvSpPr>
        <p:spPr>
          <a:xfrm>
            <a:off x="802432" y="1903748"/>
            <a:ext cx="55687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a Node similarity score based on some heuristic</a:t>
            </a:r>
          </a:p>
          <a:p>
            <a:r>
              <a:rPr lang="en-US" dirty="0"/>
              <a:t>related to the neighboring nodes.</a:t>
            </a:r>
          </a:p>
          <a:p>
            <a:endParaRPr lang="en-US" dirty="0"/>
          </a:p>
          <a:p>
            <a:r>
              <a:rPr lang="en-US" dirty="0"/>
              <a:t>Heuristic Degree is classified based on the size of the </a:t>
            </a:r>
          </a:p>
          <a:p>
            <a:r>
              <a:rPr lang="en-US" dirty="0"/>
              <a:t>neighborhood (in hops).</a:t>
            </a:r>
          </a:p>
          <a:p>
            <a:endParaRPr lang="en-US" dirty="0"/>
          </a:p>
          <a:p>
            <a:r>
              <a:rPr lang="en-US" dirty="0"/>
              <a:t>First order (1-hop) heuristics:</a:t>
            </a:r>
          </a:p>
          <a:p>
            <a:r>
              <a:rPr lang="en-US" dirty="0"/>
              <a:t>Common Neighbor, Preferential attachment</a:t>
            </a:r>
          </a:p>
          <a:p>
            <a:endParaRPr lang="en-US" dirty="0"/>
          </a:p>
          <a:p>
            <a:r>
              <a:rPr lang="en-US" dirty="0"/>
              <a:t>Second Order (2-hop) heuristics:</a:t>
            </a:r>
          </a:p>
          <a:p>
            <a:r>
              <a:rPr lang="en-US" dirty="0"/>
              <a:t>Adamic-Adar (AA), Resource Allocation</a:t>
            </a:r>
          </a:p>
          <a:p>
            <a:endParaRPr lang="en-US" dirty="0"/>
          </a:p>
          <a:p>
            <a:r>
              <a:rPr lang="en-US" dirty="0"/>
              <a:t>High Order (k-hop k&gt;3) heuristics:</a:t>
            </a:r>
          </a:p>
          <a:p>
            <a:r>
              <a:rPr lang="en-US" dirty="0"/>
              <a:t>Katz, Rooted PageRank, </a:t>
            </a:r>
            <a:r>
              <a:rPr lang="en-US" dirty="0" err="1"/>
              <a:t>SimRank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7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92AB-0121-8A7F-163B-ECD57D04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805"/>
            <a:ext cx="10515600" cy="1325563"/>
          </a:xfrm>
        </p:spPr>
        <p:txBody>
          <a:bodyPr/>
          <a:lstStyle/>
          <a:p>
            <a:r>
              <a:rPr lang="en-US" dirty="0"/>
              <a:t>Limitations with Heuristic Based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4F25A-05D2-5931-33BC-A06FDFECC860}"/>
              </a:ext>
            </a:extLst>
          </p:cNvPr>
          <p:cNvSpPr txBox="1"/>
          <p:nvPr/>
        </p:nvSpPr>
        <p:spPr>
          <a:xfrm>
            <a:off x="1007706" y="2062065"/>
            <a:ext cx="48519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Requires a lot of Trial &amp; Error to find the right heuristic for a particular network.</a:t>
            </a:r>
          </a:p>
          <a:p>
            <a:endParaRPr lang="en-US" dirty="0"/>
          </a:p>
          <a:p>
            <a:r>
              <a:rPr lang="en-US" dirty="0"/>
              <a:t>E.g., Common Neighbor heuristic works well in social networks but fails in protein-protein interaction (PPI) networks</a:t>
            </a:r>
          </a:p>
          <a:p>
            <a:endParaRPr lang="en-US" dirty="0"/>
          </a:p>
          <a:p>
            <a:r>
              <a:rPr lang="en-US" dirty="0"/>
              <a:t>This makes the approach non-generalizable since every network will require its own heuristic.</a:t>
            </a: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28F443DF-5A66-2946-D58A-CDD4A01B7381}"/>
              </a:ext>
            </a:extLst>
          </p:cNvPr>
          <p:cNvSpPr/>
          <p:nvPr/>
        </p:nvSpPr>
        <p:spPr>
          <a:xfrm>
            <a:off x="7539135" y="2823357"/>
            <a:ext cx="709126" cy="694207"/>
          </a:xfrm>
          <a:prstGeom prst="smileyFac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682A1F6D-5249-8A5C-20D3-A79505291A01}"/>
              </a:ext>
            </a:extLst>
          </p:cNvPr>
          <p:cNvSpPr/>
          <p:nvPr/>
        </p:nvSpPr>
        <p:spPr>
          <a:xfrm>
            <a:off x="8248261" y="3885861"/>
            <a:ext cx="709126" cy="694207"/>
          </a:xfrm>
          <a:prstGeom prst="smileyFac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9547822B-EC27-3FEF-6AD6-BB5D60B708A6}"/>
              </a:ext>
            </a:extLst>
          </p:cNvPr>
          <p:cNvSpPr/>
          <p:nvPr/>
        </p:nvSpPr>
        <p:spPr>
          <a:xfrm>
            <a:off x="9756710" y="2823356"/>
            <a:ext cx="709126" cy="694207"/>
          </a:xfrm>
          <a:prstGeom prst="smileyFac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4F0C8CD0-3653-3E17-FA03-C9578DF38383}"/>
              </a:ext>
            </a:extLst>
          </p:cNvPr>
          <p:cNvSpPr/>
          <p:nvPr/>
        </p:nvSpPr>
        <p:spPr>
          <a:xfrm>
            <a:off x="9047584" y="3885861"/>
            <a:ext cx="709126" cy="69420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C74830-445A-6EE9-4B62-1DBE3ABC8458}"/>
              </a:ext>
            </a:extLst>
          </p:cNvPr>
          <p:cNvCxnSpPr>
            <a:cxnSpLocks/>
            <a:stCxn id="4" idx="4"/>
            <a:endCxn id="5" idx="1"/>
          </p:cNvCxnSpPr>
          <p:nvPr/>
        </p:nvCxnSpPr>
        <p:spPr>
          <a:xfrm>
            <a:off x="7893698" y="3517564"/>
            <a:ext cx="458412" cy="4699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374161-EFBC-0DD4-7820-62F37FD16566}"/>
              </a:ext>
            </a:extLst>
          </p:cNvPr>
          <p:cNvCxnSpPr>
            <a:cxnSpLocks/>
            <a:stCxn id="7" idx="1"/>
            <a:endCxn id="4" idx="5"/>
          </p:cNvCxnSpPr>
          <p:nvPr/>
        </p:nvCxnSpPr>
        <p:spPr>
          <a:xfrm flipH="1" flipV="1">
            <a:off x="8144412" y="3415900"/>
            <a:ext cx="1007021" cy="5716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56AF20-92FA-CA32-4CEF-CB14529831BD}"/>
              </a:ext>
            </a:extLst>
          </p:cNvPr>
          <p:cNvCxnSpPr>
            <a:stCxn id="6" idx="4"/>
            <a:endCxn id="7" idx="7"/>
          </p:cNvCxnSpPr>
          <p:nvPr/>
        </p:nvCxnSpPr>
        <p:spPr>
          <a:xfrm flipH="1">
            <a:off x="9652861" y="3517563"/>
            <a:ext cx="458412" cy="4699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48C0BE-38FE-C291-A0B4-2D0C5C13D45C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8853538" y="3415899"/>
            <a:ext cx="1007021" cy="5716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322C36-B687-114E-1E24-49715EFE19D4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8248261" y="3170460"/>
            <a:ext cx="1508449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3" name="Picture 22" descr="A green check mark on a black background&#10;&#10;Description automatically generated">
            <a:extLst>
              <a:ext uri="{FF2B5EF4-FFF2-40B4-BE49-F238E27FC236}">
                <a16:creationId xmlns:a16="http://schemas.microsoft.com/office/drawing/2014/main" id="{4BD6958F-9B5C-B7B6-E6F8-13B5F39F4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59887" y="2475854"/>
            <a:ext cx="794999" cy="6946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A137F9-B03D-2F9D-FDC1-1FF320B96AA2}"/>
              </a:ext>
            </a:extLst>
          </p:cNvPr>
          <p:cNvSpPr txBox="1"/>
          <p:nvPr/>
        </p:nvSpPr>
        <p:spPr>
          <a:xfrm>
            <a:off x="7720133" y="8374568"/>
            <a:ext cx="71533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ia.wikipedia.org/wiki/File:Tick_green_modern.sv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38430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2F196-E371-AF46-986C-B3A8CA498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Using DNN to automatically study graph structure heuristics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5ED74-350C-0285-BB7E-A35703661019}"/>
              </a:ext>
            </a:extLst>
          </p:cNvPr>
          <p:cNvSpPr txBox="1"/>
          <p:nvPr/>
        </p:nvSpPr>
        <p:spPr>
          <a:xfrm>
            <a:off x="761802" y="2321476"/>
            <a:ext cx="4864875" cy="385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First architecture to use this method – Weisfeiler-Lehman Neural Machine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Achieved state of the art prediction performance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Uses Weisfeiler-Lehman graph labeling to encode structural information in node label order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Limitations: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Uses DNN instead of GNN which misses out on attribute features of nodes &amp; limits learning of graph features. </a:t>
            </a:r>
          </a:p>
        </p:txBody>
      </p:sp>
      <p:pic>
        <p:nvPicPr>
          <p:cNvPr id="5" name="Picture 4" descr="A diagram of a graphing process&#10;&#10;Description automatically generated">
            <a:extLst>
              <a:ext uri="{FF2B5EF4-FFF2-40B4-BE49-F238E27FC236}">
                <a16:creationId xmlns:a16="http://schemas.microsoft.com/office/drawing/2014/main" id="{27969AEB-E1A0-941F-0191-5779F7428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50" y="2986590"/>
            <a:ext cx="5178206" cy="247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8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4320DE-4A29-DCCD-82F5-A563BCF255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First Contribution: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decaying theory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4320DE-4A29-DCCD-82F5-A563BCF25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AEAFB-11D7-7101-8C76-82BDD0C473D1}"/>
                  </a:ext>
                </a:extLst>
              </p:cNvPr>
              <p:cNvSpPr txBox="1"/>
              <p:nvPr/>
            </p:nvSpPr>
            <p:spPr>
              <a:xfrm>
                <a:off x="923731" y="2071396"/>
                <a:ext cx="9078685" cy="3638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𝐴𝑠𝑠𝑒𝑟𝑡𝑖𝑜𝑛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𝐻𝑖𝑔h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decaying heuristics can be approximated using a smaller h-hop neighborhood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Preliminaries: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𝑇h𝑒𝑜𝑟𝑒𝑚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𝑜𝑟𝑑𝑒𝑟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h𝑒𝑢𝑟𝑖𝑠𝑡𝑖𝑐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𝑐𝑎𝑙𝑐𝑢𝑙𝑎𝑡𝑒𝑑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𝑒𝑛𝑐𝑙𝑜𝑠𝑖𝑛𝑔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h𝑜𝑝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𝑠𝑢𝑏𝑔𝑟𝑎𝑝h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𝑑𝑒𝑛𝑜𝑡𝑒𝑑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𝑤h𝑖𝑐h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𝑐𝑜𝑛𝑡𝑎𝑖𝑛𝑠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h𝑜𝑝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𝑛𝑒𝑖𝑔h𝑏𝑜𝑢𝑟h𝑜𝑜𝑑𝑠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𝐷𝑒𝑓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𝑑𝑒𝑐𝑎𝑦𝑖𝑛𝑔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h𝑒𝑢𝑟𝑖𝑠𝑡𝑖𝑐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𝛾𝜖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𝑛𝑜𝑛𝑛𝑒𝑔𝑎𝑡𝑖𝑣𝑒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&amp;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0AEAFB-11D7-7101-8C76-82BDD0C4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31" y="2071396"/>
                <a:ext cx="9078685" cy="3638112"/>
              </a:xfrm>
              <a:prstGeom prst="rect">
                <a:avLst/>
              </a:prstGeom>
              <a:blipFill>
                <a:blip r:embed="rId3"/>
                <a:stretch>
                  <a:fillRect l="-604" t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38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B76F8D3-EE74-8D05-6E44-BDA6D7561703}"/>
                  </a:ext>
                </a:extLst>
              </p:cNvPr>
              <p:cNvSpPr txBox="1"/>
              <p:nvPr/>
            </p:nvSpPr>
            <p:spPr>
              <a:xfrm>
                <a:off x="1082350" y="1091681"/>
                <a:ext cx="10291665" cy="3667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𝑇h𝑒𝑜𝑟𝑒𝑚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𝑑𝑒𝑐𝑎𝑦𝑖𝑛𝑔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h𝑒𝑢𝑟𝑖𝑠𝑡𝑖𝑐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𝑎𝑝𝑝𝑟𝑜𝑥𝑖𝑚𝑎𝑡𝑒𝑑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𝑢𝑠𝑖𝑛𝑔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𝑎𝑝𝑝𝑟𝑜𝑥𝑖𝑚𝑎𝑡𝑖𝑜𝑛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𝑑𝑒𝑐𝑟𝑒𝑎𝑠𝑒𝑠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𝑓𝑜𝑙𝑙𝑜𝑤𝑖𝑛𝑔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𝑝𝑟𝑜𝑝𝑒𝑟𝑡𝑖𝑒𝑠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𝑐𝑎𝑙𝑐𝑢𝑙𝑎𝑏𝑙𝑒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&amp;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𝑎𝑝𝑝𝑟𝑜𝑥𝑖𝑚𝑎𝑡𝑒𝑑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h𝑒𝑢𝑟𝑖𝑠𝑡𝑖𝑐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𝑎𝑝𝑝𝑟𝑜𝑥𝑖𝑚𝑎𝑡𝑖𝑜𝑛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𝑠h𝑜𝑤𝑛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𝛾𝜆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𝛾𝜆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𝑇h𝑒𝑟𝑒𝑓𝑜𝑟𝑒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𝑙𝑎𝑟𝑔𝑒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𝑠𝑚𝑎𝑙𝑙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𝑙𝑒𝑎𝑑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𝑓𝑎𝑠𝑡𝑒𝑟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𝑟𝑒𝑑𝑢𝑐𝑡𝑖𝑜𝑛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B76F8D3-EE74-8D05-6E44-BDA6D7561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50" y="1091681"/>
                <a:ext cx="10291665" cy="3667286"/>
              </a:xfrm>
              <a:prstGeom prst="rect">
                <a:avLst/>
              </a:prstGeom>
              <a:blipFill>
                <a:blip r:embed="rId2"/>
                <a:stretch>
                  <a:fillRect l="-474" b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85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BCBA83-9409-0509-9965-A9ADD1304CF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Proving that Katz index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𝑑𝑒𝑐𝑎𝑦𝑖𝑛𝑔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BCBA83-9409-0509-9965-A9ADD1304C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E08EE0-1B5F-79C8-3FDE-03CC933AC366}"/>
                  </a:ext>
                </a:extLst>
              </p:cNvPr>
              <p:cNvSpPr txBox="1"/>
              <p:nvPr/>
            </p:nvSpPr>
            <p:spPr>
              <a:xfrm>
                <a:off x="961053" y="1940767"/>
                <a:ext cx="10207690" cy="4085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𝐾𝑎𝑡𝑧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𝑑𝑒𝑓𝑖𝑛𝑒𝑑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𝐾𝑎𝑡𝑧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𝑤𝑎𝑙𝑘𝑠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)|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)|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𝑤𝑎𝑙𝑘𝑠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𝑤𝑎𝑙𝑘𝑠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𝑎𝑑𝑗𝑎𝑐𝑒𝑛𝑐𝑦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𝑝𝑜𝑤𝑒𝑟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𝐿𝑒𝑚𝑚𝑎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𝐴𝑛𝑦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𝑤𝑎𝑙𝑘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𝑏𝑒𝑡𝑤𝑒𝑒𝑛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𝑖𝑛𝑐𝑙𝑢𝑑𝑒𝑑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𝑤𝑎𝑙𝑘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𝑒𝑖𝑡h𝑒𝑟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𝑜𝑟𝑑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𝑡h𝑒𝑟𝑒𝑓𝑜𝑟𝑒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𝑛𝑒𝑖𝑔h𝑏𝑜𝑟h𝑜𝑜𝑑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𝑤h𝑖𝑐h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𝑆𝑒𝑡𝑡𝑖𝑛𝑔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𝑤𝑎𝑙𝑘𝑠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𝑙𝑒𝑚𝑚𝑎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𝑤𝑎𝑙𝑘𝑠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𝑐𝑎𝑙𝑐𝑢𝑙𝑎𝑏𝑙𝑒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𝑝𝑟𝑜𝑝𝑒𝑟𝑡𝑦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2.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𝑠𝑎𝑡𝑖𝑠𝑓𝑖𝑒𝑠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𝑝𝑟𝑜𝑝𝑒𝑟𝑡𝑦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𝑤𝑎𝑙𝑘𝑠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𝑏𝑜𝑢𝑛𝑑𝑒𝑑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𝑚𝑎𝑥𝑖𝑚𝑢𝑚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𝑑𝑒𝑔𝑟𝑒𝑒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𝑛𝑒𝑡𝑤𝑜𝑟𝑘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𝑆𝑒𝑡𝑡𝑖𝑛𝑔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𝑦𝑖𝑒𝑙𝑑𝑠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𝑑𝑒𝑐𝑎𝑦𝑖𝑛𝑔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h𝑒𝑢𝑟𝑖𝑠𝑡𝑖𝑐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𝑐𝑎𝑠𝑒𝑠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𝑓𝑢𝑙𝑓𝑖𝑙𝑙𝑒𝑑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E08EE0-1B5F-79C8-3FDE-03CC933AC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53" y="1940767"/>
                <a:ext cx="10207690" cy="4085670"/>
              </a:xfrm>
              <a:prstGeom prst="rect">
                <a:avLst/>
              </a:prstGeom>
              <a:blipFill>
                <a:blip r:embed="rId3"/>
                <a:stretch>
                  <a:fillRect l="-179" b="-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92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0740-BA33-CEE1-45C1-D620BCE2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DFEB1D-F712-C8A8-6388-CF1182EF0331}"/>
                  </a:ext>
                </a:extLst>
              </p:cNvPr>
              <p:cNvSpPr txBox="1"/>
              <p:nvPr/>
            </p:nvSpPr>
            <p:spPr>
              <a:xfrm>
                <a:off x="838200" y="1856792"/>
                <a:ext cx="101159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paper contains proofs regarding PageRank &amp; </a:t>
                </a:r>
                <a:r>
                  <a:rPr lang="en-US" dirty="0" err="1"/>
                  <a:t>SimRank</a:t>
                </a:r>
                <a:r>
                  <a:rPr lang="en-US" dirty="0"/>
                  <a:t> being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𝑑𝑒𝑐𝑎𝑦𝑖𝑛𝑔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h𝑒𝑢𝑟𝑖𝑠𝑡𝑖𝑐𝑠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Therefore, high hop neighborhoods are not required for approximating high order heuristics and the neural networks can utilize low h-hop neighborhoods to yield high performance.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DFEB1D-F712-C8A8-6388-CF1182EF0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6792"/>
                <a:ext cx="10115939" cy="1200329"/>
              </a:xfrm>
              <a:prstGeom prst="rect">
                <a:avLst/>
              </a:prstGeom>
              <a:blipFill>
                <a:blip r:embed="rId2"/>
                <a:stretch>
                  <a:fillRect l="-542" t="-3061" b="-7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898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9923-54B7-AB90-945B-A61E5158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SEAL: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73C8D-706B-6BBC-D0AB-B8711709F085}"/>
              </a:ext>
            </a:extLst>
          </p:cNvPr>
          <p:cNvSpPr txBox="1"/>
          <p:nvPr/>
        </p:nvSpPr>
        <p:spPr>
          <a:xfrm>
            <a:off x="914400" y="2099388"/>
            <a:ext cx="80429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step process: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Subgraph Extraction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Node Information Matrix Construction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GNN Training</a:t>
            </a:r>
          </a:p>
        </p:txBody>
      </p:sp>
    </p:spTree>
    <p:extLst>
      <p:ext uri="{BB962C8B-B14F-4D97-AF65-F5344CB8AC3E}">
        <p14:creationId xmlns:p14="http://schemas.microsoft.com/office/powerpoint/2010/main" val="1779333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0349C-2CE0-911C-4641-02382069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/>
              <a:t>SEAL Execution Overview</a:t>
            </a:r>
          </a:p>
        </p:txBody>
      </p:sp>
      <p:pic>
        <p:nvPicPr>
          <p:cNvPr id="4" name="Picture 3" descr="A diagram of graph structure&#10;&#10;Description automatically generated">
            <a:extLst>
              <a:ext uri="{FF2B5EF4-FFF2-40B4-BE49-F238E27FC236}">
                <a16:creationId xmlns:a16="http://schemas.microsoft.com/office/drawing/2014/main" id="{BCF5DF28-EEBF-04A4-178D-1874715F8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4600"/>
            <a:ext cx="10512547" cy="373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22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D40E-B92F-B4E2-E2CC-3C3C3D83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Subgraph Extraction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616140-5E6C-F554-065D-170B7F802245}"/>
              </a:ext>
            </a:extLst>
          </p:cNvPr>
          <p:cNvSpPr/>
          <p:nvPr/>
        </p:nvSpPr>
        <p:spPr>
          <a:xfrm>
            <a:off x="7956637" y="2685381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C739E1-366A-0658-9AF7-A56DF9D5060B}"/>
              </a:ext>
            </a:extLst>
          </p:cNvPr>
          <p:cNvSpPr/>
          <p:nvPr/>
        </p:nvSpPr>
        <p:spPr>
          <a:xfrm>
            <a:off x="8539801" y="3236313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5468B0-C01F-8BEE-ABA7-91F467D6EA35}"/>
              </a:ext>
            </a:extLst>
          </p:cNvPr>
          <p:cNvSpPr/>
          <p:nvPr/>
        </p:nvSpPr>
        <p:spPr>
          <a:xfrm>
            <a:off x="8157246" y="3908541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2C0730-A818-E63D-3169-175CACCE46EC}"/>
              </a:ext>
            </a:extLst>
          </p:cNvPr>
          <p:cNvSpPr/>
          <p:nvPr/>
        </p:nvSpPr>
        <p:spPr>
          <a:xfrm>
            <a:off x="9376445" y="3908541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4D1653-3585-32CF-EE8B-CBC8AE58B0BC}"/>
              </a:ext>
            </a:extLst>
          </p:cNvPr>
          <p:cNvSpPr/>
          <p:nvPr/>
        </p:nvSpPr>
        <p:spPr>
          <a:xfrm>
            <a:off x="7510321" y="4503719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1598B4-7DCE-66C6-B437-1BD7351CC2CE}"/>
              </a:ext>
            </a:extLst>
          </p:cNvPr>
          <p:cNvSpPr/>
          <p:nvPr/>
        </p:nvSpPr>
        <p:spPr>
          <a:xfrm>
            <a:off x="9314242" y="2876659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120F2F-520F-833C-962F-C6AA312A0694}"/>
              </a:ext>
            </a:extLst>
          </p:cNvPr>
          <p:cNvCxnSpPr>
            <a:stCxn id="3" idx="5"/>
            <a:endCxn id="4" idx="1"/>
          </p:cNvCxnSpPr>
          <p:nvPr/>
        </p:nvCxnSpPr>
        <p:spPr>
          <a:xfrm>
            <a:off x="8283168" y="3011912"/>
            <a:ext cx="312657" cy="280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734940-34E8-454F-B01C-CD32DB33049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8539801" y="4099819"/>
            <a:ext cx="8366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272C29-5C68-0D84-4098-FF8DEC090F9D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9505520" y="3259214"/>
            <a:ext cx="62203" cy="649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B444C4-3578-AABF-96A3-91BFE5DEEFDB}"/>
              </a:ext>
            </a:extLst>
          </p:cNvPr>
          <p:cNvCxnSpPr>
            <a:cxnSpLocks/>
            <a:stCxn id="4" idx="6"/>
            <a:endCxn id="8" idx="3"/>
          </p:cNvCxnSpPr>
          <p:nvPr/>
        </p:nvCxnSpPr>
        <p:spPr>
          <a:xfrm flipV="1">
            <a:off x="8922356" y="3203190"/>
            <a:ext cx="447910" cy="224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77D8A2-7FB1-A7E5-E64D-EC59F1D43A84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7836852" y="4235072"/>
            <a:ext cx="376418" cy="3246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4DF040-A91F-DFDF-4822-95FB6464C67F}"/>
              </a:ext>
            </a:extLst>
          </p:cNvPr>
          <p:cNvCxnSpPr>
            <a:cxnSpLocks/>
            <a:stCxn id="6" idx="1"/>
            <a:endCxn id="4" idx="5"/>
          </p:cNvCxnSpPr>
          <p:nvPr/>
        </p:nvCxnSpPr>
        <p:spPr>
          <a:xfrm flipH="1" flipV="1">
            <a:off x="8866332" y="3562844"/>
            <a:ext cx="566137" cy="401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82B8DC1-842F-8D74-086C-ED9C3AFB9338}"/>
              </a:ext>
            </a:extLst>
          </p:cNvPr>
          <p:cNvSpPr/>
          <p:nvPr/>
        </p:nvSpPr>
        <p:spPr>
          <a:xfrm>
            <a:off x="6593439" y="1709841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F7925B-3134-27EB-84EB-6C80E8F4FE72}"/>
              </a:ext>
            </a:extLst>
          </p:cNvPr>
          <p:cNvSpPr/>
          <p:nvPr/>
        </p:nvSpPr>
        <p:spPr>
          <a:xfrm>
            <a:off x="7240571" y="2234627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23E676-BFF6-0D47-A372-9691BD442FDF}"/>
              </a:ext>
            </a:extLst>
          </p:cNvPr>
          <p:cNvSpPr/>
          <p:nvPr/>
        </p:nvSpPr>
        <p:spPr>
          <a:xfrm>
            <a:off x="7307300" y="3657719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EDA838-5A8D-A96E-FF98-8F731DCE8D9D}"/>
              </a:ext>
            </a:extLst>
          </p:cNvPr>
          <p:cNvSpPr/>
          <p:nvPr/>
        </p:nvSpPr>
        <p:spPr>
          <a:xfrm>
            <a:off x="7993980" y="3409161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491EEE8-38CA-1CC7-FCBA-2B18015D9F8D}"/>
              </a:ext>
            </a:extLst>
          </p:cNvPr>
          <p:cNvSpPr/>
          <p:nvPr/>
        </p:nvSpPr>
        <p:spPr>
          <a:xfrm>
            <a:off x="6568682" y="4291096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6C1E89-05AA-4C72-4C3A-3B2E45EACE34}"/>
              </a:ext>
            </a:extLst>
          </p:cNvPr>
          <p:cNvSpPr/>
          <p:nvPr/>
        </p:nvSpPr>
        <p:spPr>
          <a:xfrm>
            <a:off x="8060724" y="1698035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95CAFF-EB99-1775-FF90-11DD126AE3A6}"/>
              </a:ext>
            </a:extLst>
          </p:cNvPr>
          <p:cNvCxnSpPr>
            <a:stCxn id="15" idx="5"/>
            <a:endCxn id="16" idx="1"/>
          </p:cNvCxnSpPr>
          <p:nvPr/>
        </p:nvCxnSpPr>
        <p:spPr>
          <a:xfrm>
            <a:off x="6919970" y="2036372"/>
            <a:ext cx="376625" cy="254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213E4F-7848-62FB-1E5C-3DF6ECA3BA64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 flipV="1">
            <a:off x="7689855" y="3600439"/>
            <a:ext cx="304125" cy="248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1A7FC7-FDE9-788C-9B67-89F82DE53AA4}"/>
              </a:ext>
            </a:extLst>
          </p:cNvPr>
          <p:cNvCxnSpPr>
            <a:cxnSpLocks/>
            <a:stCxn id="16" idx="6"/>
            <a:endCxn id="20" idx="3"/>
          </p:cNvCxnSpPr>
          <p:nvPr/>
        </p:nvCxnSpPr>
        <p:spPr>
          <a:xfrm flipV="1">
            <a:off x="7623126" y="2024566"/>
            <a:ext cx="493622" cy="401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29AED6-0AF3-0045-C0EC-4F49D1F21678}"/>
              </a:ext>
            </a:extLst>
          </p:cNvPr>
          <p:cNvCxnSpPr>
            <a:cxnSpLocks/>
            <a:stCxn id="17" idx="3"/>
            <a:endCxn id="19" idx="7"/>
          </p:cNvCxnSpPr>
          <p:nvPr/>
        </p:nvCxnSpPr>
        <p:spPr>
          <a:xfrm flipH="1">
            <a:off x="6895213" y="3984250"/>
            <a:ext cx="468111" cy="362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A33280-D5EB-A966-93F8-653005F0241A}"/>
              </a:ext>
            </a:extLst>
          </p:cNvPr>
          <p:cNvCxnSpPr>
            <a:cxnSpLocks/>
            <a:stCxn id="18" idx="1"/>
            <a:endCxn id="16" idx="5"/>
          </p:cNvCxnSpPr>
          <p:nvPr/>
        </p:nvCxnSpPr>
        <p:spPr>
          <a:xfrm flipH="1" flipV="1">
            <a:off x="7567102" y="2561158"/>
            <a:ext cx="482902" cy="904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8429F2-AC8D-3CA1-4E9B-2B4B45606143}"/>
              </a:ext>
            </a:extLst>
          </p:cNvPr>
          <p:cNvCxnSpPr>
            <a:stCxn id="3" idx="0"/>
            <a:endCxn id="20" idx="4"/>
          </p:cNvCxnSpPr>
          <p:nvPr/>
        </p:nvCxnSpPr>
        <p:spPr>
          <a:xfrm flipV="1">
            <a:off x="8147915" y="2080590"/>
            <a:ext cx="104087" cy="6047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27B448B-6893-0EDF-6A4D-6E110048F377}"/>
              </a:ext>
            </a:extLst>
          </p:cNvPr>
          <p:cNvCxnSpPr>
            <a:stCxn id="4" idx="2"/>
            <a:endCxn id="18" idx="7"/>
          </p:cNvCxnSpPr>
          <p:nvPr/>
        </p:nvCxnSpPr>
        <p:spPr>
          <a:xfrm flipH="1">
            <a:off x="8320511" y="3427591"/>
            <a:ext cx="219290" cy="37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E61B8D42-18D1-A605-44A6-8544AE724D1B}"/>
              </a:ext>
            </a:extLst>
          </p:cNvPr>
          <p:cNvSpPr/>
          <p:nvPr/>
        </p:nvSpPr>
        <p:spPr>
          <a:xfrm>
            <a:off x="6343544" y="3344612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7834059-6EB4-F9F5-6B8F-9AFB9FD7DA19}"/>
              </a:ext>
            </a:extLst>
          </p:cNvPr>
          <p:cNvSpPr/>
          <p:nvPr/>
        </p:nvSpPr>
        <p:spPr>
          <a:xfrm>
            <a:off x="4980346" y="2369072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ED44578-BC1C-2EDB-12C2-A647B70F57FC}"/>
              </a:ext>
            </a:extLst>
          </p:cNvPr>
          <p:cNvSpPr/>
          <p:nvPr/>
        </p:nvSpPr>
        <p:spPr>
          <a:xfrm>
            <a:off x="5627478" y="2893858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DFF2A29-6261-7E2E-DFA4-98ABE2A9F9B9}"/>
              </a:ext>
            </a:extLst>
          </p:cNvPr>
          <p:cNvSpPr/>
          <p:nvPr/>
        </p:nvSpPr>
        <p:spPr>
          <a:xfrm>
            <a:off x="6447631" y="2357266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43C8F21-37E0-B57C-BBE6-DBC624BE7230}"/>
              </a:ext>
            </a:extLst>
          </p:cNvPr>
          <p:cNvCxnSpPr>
            <a:stCxn id="46" idx="5"/>
            <a:endCxn id="47" idx="1"/>
          </p:cNvCxnSpPr>
          <p:nvPr/>
        </p:nvCxnSpPr>
        <p:spPr>
          <a:xfrm>
            <a:off x="5306877" y="2695603"/>
            <a:ext cx="376625" cy="254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8961E31-BB92-742E-D9A1-F1114FF0B946}"/>
              </a:ext>
            </a:extLst>
          </p:cNvPr>
          <p:cNvCxnSpPr>
            <a:cxnSpLocks/>
            <a:stCxn id="47" idx="6"/>
            <a:endCxn id="48" idx="3"/>
          </p:cNvCxnSpPr>
          <p:nvPr/>
        </p:nvCxnSpPr>
        <p:spPr>
          <a:xfrm flipV="1">
            <a:off x="6010033" y="2683797"/>
            <a:ext cx="493622" cy="401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2EFF9C-C522-10B6-0A29-C7D5BF00B58C}"/>
              </a:ext>
            </a:extLst>
          </p:cNvPr>
          <p:cNvCxnSpPr>
            <a:stCxn id="45" idx="0"/>
            <a:endCxn id="48" idx="4"/>
          </p:cNvCxnSpPr>
          <p:nvPr/>
        </p:nvCxnSpPr>
        <p:spPr>
          <a:xfrm flipV="1">
            <a:off x="6534822" y="2739821"/>
            <a:ext cx="104087" cy="6047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F2933CAB-62CA-44B4-8479-D7BB877ECB41}"/>
              </a:ext>
            </a:extLst>
          </p:cNvPr>
          <p:cNvSpPr/>
          <p:nvPr/>
        </p:nvSpPr>
        <p:spPr>
          <a:xfrm>
            <a:off x="9988268" y="2382985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CCB9F4D-1C4C-6051-6C83-25CAF31C5F03}"/>
              </a:ext>
            </a:extLst>
          </p:cNvPr>
          <p:cNvSpPr/>
          <p:nvPr/>
        </p:nvSpPr>
        <p:spPr>
          <a:xfrm>
            <a:off x="8625070" y="1407445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9AD880-1AE3-674F-7D95-DB43C22E8ADD}"/>
              </a:ext>
            </a:extLst>
          </p:cNvPr>
          <p:cNvSpPr/>
          <p:nvPr/>
        </p:nvSpPr>
        <p:spPr>
          <a:xfrm>
            <a:off x="9272202" y="1932231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1A1180A-50A2-1987-7C97-FBFE6D309E9C}"/>
              </a:ext>
            </a:extLst>
          </p:cNvPr>
          <p:cNvSpPr/>
          <p:nvPr/>
        </p:nvSpPr>
        <p:spPr>
          <a:xfrm>
            <a:off x="10092355" y="1395639"/>
            <a:ext cx="382555" cy="38255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9C917D2-9BA8-16BF-5955-BAA899F3D762}"/>
              </a:ext>
            </a:extLst>
          </p:cNvPr>
          <p:cNvCxnSpPr>
            <a:stCxn id="53" idx="5"/>
            <a:endCxn id="54" idx="1"/>
          </p:cNvCxnSpPr>
          <p:nvPr/>
        </p:nvCxnSpPr>
        <p:spPr>
          <a:xfrm>
            <a:off x="8951601" y="1733976"/>
            <a:ext cx="376625" cy="254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0B39185-664E-3D05-8275-7090C448AA5A}"/>
              </a:ext>
            </a:extLst>
          </p:cNvPr>
          <p:cNvCxnSpPr>
            <a:cxnSpLocks/>
            <a:stCxn id="54" idx="6"/>
            <a:endCxn id="55" idx="3"/>
          </p:cNvCxnSpPr>
          <p:nvPr/>
        </p:nvCxnSpPr>
        <p:spPr>
          <a:xfrm flipV="1">
            <a:off x="9654757" y="1722170"/>
            <a:ext cx="493622" cy="401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BF3F8E-EF9B-5AB9-C293-E58A67015D58}"/>
              </a:ext>
            </a:extLst>
          </p:cNvPr>
          <p:cNvCxnSpPr>
            <a:stCxn id="52" idx="0"/>
            <a:endCxn id="55" idx="4"/>
          </p:cNvCxnSpPr>
          <p:nvPr/>
        </p:nvCxnSpPr>
        <p:spPr>
          <a:xfrm flipV="1">
            <a:off x="10179546" y="1778194"/>
            <a:ext cx="104087" cy="6047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5BF3F4-38DB-C8AA-2E59-EADEFF953716}"/>
              </a:ext>
            </a:extLst>
          </p:cNvPr>
          <p:cNvCxnSpPr>
            <a:stCxn id="19" idx="1"/>
            <a:endCxn id="45" idx="4"/>
          </p:cNvCxnSpPr>
          <p:nvPr/>
        </p:nvCxnSpPr>
        <p:spPr>
          <a:xfrm flipH="1" flipV="1">
            <a:off x="6534822" y="3727167"/>
            <a:ext cx="89884" cy="6199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A6AF5FF-1C3B-178D-07E0-2EE23087043E}"/>
              </a:ext>
            </a:extLst>
          </p:cNvPr>
          <p:cNvCxnSpPr>
            <a:stCxn id="8" idx="7"/>
            <a:endCxn id="52" idx="3"/>
          </p:cNvCxnSpPr>
          <p:nvPr/>
        </p:nvCxnSpPr>
        <p:spPr>
          <a:xfrm flipV="1">
            <a:off x="9640773" y="2709516"/>
            <a:ext cx="403519" cy="223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F524462-2177-A4D6-87F6-4E2E53A275D4}"/>
              </a:ext>
            </a:extLst>
          </p:cNvPr>
          <p:cNvSpPr txBox="1"/>
          <p:nvPr/>
        </p:nvSpPr>
        <p:spPr>
          <a:xfrm>
            <a:off x="838200" y="2036372"/>
            <a:ext cx="3750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Capture the h-hop neighborhood of</a:t>
            </a:r>
          </a:p>
          <a:p>
            <a:r>
              <a:rPr lang="en-US" dirty="0"/>
              <a:t>Both the link prediction nodes and union the sets.</a:t>
            </a:r>
          </a:p>
          <a:p>
            <a:endParaRPr lang="en-US" dirty="0"/>
          </a:p>
          <a:p>
            <a:r>
              <a:rPr lang="en-US" dirty="0"/>
              <a:t>Can be extracted using BFT.</a:t>
            </a:r>
          </a:p>
        </p:txBody>
      </p:sp>
    </p:spTree>
    <p:extLst>
      <p:ext uri="{BB962C8B-B14F-4D97-AF65-F5344CB8AC3E}">
        <p14:creationId xmlns:p14="http://schemas.microsoft.com/office/powerpoint/2010/main" val="2118036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7AC7-FDA0-8344-1851-4119CE70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Information Matrix Construction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74587-F515-4351-8C8D-FB6E87EC2FA1}"/>
              </a:ext>
            </a:extLst>
          </p:cNvPr>
          <p:cNvSpPr txBox="1"/>
          <p:nvPr/>
        </p:nvSpPr>
        <p:spPr>
          <a:xfrm>
            <a:off x="933062" y="2034073"/>
            <a:ext cx="35642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Main Components: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Structural Node Labels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Node Embeddings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Node Attributes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24420B-7237-8D12-A656-BF322E68C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055832"/>
              </p:ext>
            </p:extLst>
          </p:nvPr>
        </p:nvGraphicFramePr>
        <p:xfrm>
          <a:off x="6690047" y="2341983"/>
          <a:ext cx="2928780" cy="2649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8">
                  <a:extLst>
                    <a:ext uri="{9D8B030D-6E8A-4147-A177-3AD203B41FA5}">
                      <a16:colId xmlns:a16="http://schemas.microsoft.com/office/drawing/2014/main" val="2437471569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841531075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499161865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2863639917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2798115337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2482322054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3187848124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2879261392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3501068295"/>
                    </a:ext>
                  </a:extLst>
                </a:gridCol>
                <a:gridCol w="292878">
                  <a:extLst>
                    <a:ext uri="{9D8B030D-6E8A-4147-A177-3AD203B41FA5}">
                      <a16:colId xmlns:a16="http://schemas.microsoft.com/office/drawing/2014/main" val="3183255125"/>
                    </a:ext>
                  </a:extLst>
                </a:gridCol>
              </a:tblGrid>
              <a:tr h="8832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802902"/>
                  </a:ext>
                </a:extLst>
              </a:tr>
              <a:tr h="8832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263353"/>
                  </a:ext>
                </a:extLst>
              </a:tr>
              <a:tr h="8832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4770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98F48D-DF8E-023A-5A88-81A1518A0994}"/>
              </a:ext>
            </a:extLst>
          </p:cNvPr>
          <p:cNvSpPr txBox="1"/>
          <p:nvPr/>
        </p:nvSpPr>
        <p:spPr>
          <a:xfrm>
            <a:off x="7119257" y="2478049"/>
            <a:ext cx="2307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Structural Node Labels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One Hot encoded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B7534-1A0A-A973-9C3B-76EA88074328}"/>
              </a:ext>
            </a:extLst>
          </p:cNvPr>
          <p:cNvSpPr txBox="1"/>
          <p:nvPr/>
        </p:nvSpPr>
        <p:spPr>
          <a:xfrm>
            <a:off x="7038914" y="3343764"/>
            <a:ext cx="2467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Embeddings</a:t>
            </a:r>
          </a:p>
          <a:p>
            <a:r>
              <a:rPr lang="en-US" dirty="0"/>
              <a:t>Generated by Node2Vec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FCF46-CED8-B847-10A9-D1FF457871DB}"/>
              </a:ext>
            </a:extLst>
          </p:cNvPr>
          <p:cNvSpPr txBox="1"/>
          <p:nvPr/>
        </p:nvSpPr>
        <p:spPr>
          <a:xfrm>
            <a:off x="7104124" y="4209479"/>
            <a:ext cx="2322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Node feature</a:t>
            </a:r>
          </a:p>
          <a:p>
            <a:r>
              <a:rPr lang="en-US" dirty="0"/>
              <a:t>Vector </a:t>
            </a:r>
          </a:p>
        </p:txBody>
      </p:sp>
    </p:spTree>
    <p:extLst>
      <p:ext uri="{BB962C8B-B14F-4D97-AF65-F5344CB8AC3E}">
        <p14:creationId xmlns:p14="http://schemas.microsoft.com/office/powerpoint/2010/main" val="3090937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B9BB-77DF-18D1-86DE-4BE17C1E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Node Labeling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40996C-1992-1A4E-5D39-A8D58AF8DFBF}"/>
                  </a:ext>
                </a:extLst>
              </p:cNvPr>
              <p:cNvSpPr txBox="1"/>
              <p:nvPr/>
            </p:nvSpPr>
            <p:spPr>
              <a:xfrm>
                <a:off x="979713" y="1690688"/>
                <a:ext cx="543041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Encodes information regarding the topology of the subgraph.</a:t>
                </a:r>
              </a:p>
              <a:p>
                <a:r>
                  <a:rPr lang="en-US" dirty="0"/>
                  <a:t>Assign labels based on distance from both the central nodes.</a:t>
                </a:r>
              </a:p>
              <a:p>
                <a:endParaRPr lang="en-US" dirty="0"/>
              </a:p>
              <a:p>
                <a:r>
                  <a:rPr lang="en-US" dirty="0"/>
                  <a:t>Novel Methodology and </a:t>
                </a:r>
                <a:r>
                  <a:rPr lang="en-US" b="1" dirty="0"/>
                  <a:t>second Contribution:</a:t>
                </a:r>
              </a:p>
              <a:p>
                <a:r>
                  <a:rPr lang="en-US" dirty="0"/>
                  <a:t>Double Radius Node Labeling (DRNL)</a:t>
                </a:r>
              </a:p>
              <a:p>
                <a:endParaRPr lang="en-US" dirty="0"/>
              </a:p>
              <a:p>
                <a:r>
                  <a:rPr lang="en-US" dirty="0"/>
                  <a:t>DRNL uses a function f: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which maps from (d(</a:t>
                </a:r>
                <a:r>
                  <a:rPr lang="en-US" dirty="0" err="1"/>
                  <a:t>i,x</a:t>
                </a:r>
                <a:r>
                  <a:rPr lang="en-US" dirty="0"/>
                  <a:t>), d(</a:t>
                </a:r>
                <a:r>
                  <a:rPr lang="en-US" dirty="0" err="1"/>
                  <a:t>i,y</a:t>
                </a:r>
                <a:r>
                  <a:rPr lang="en-US" dirty="0"/>
                  <a:t>)) to labeling 1,2,…,k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𝑠𝑢𝑏𝑔𝑟𝑎𝑝h</m:t>
                    </m:r>
                  </m:oMath>
                </a14:m>
                <a:r>
                  <a:rPr lang="en-US" dirty="0"/>
                  <a:t>; where d(</a:t>
                </a:r>
                <a:r>
                  <a:rPr lang="en-US" dirty="0" err="1"/>
                  <a:t>m,n</a:t>
                </a:r>
                <a:r>
                  <a:rPr lang="en-US" dirty="0"/>
                  <a:t>) is the distance between the nodes m &amp; 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40996C-1992-1A4E-5D39-A8D58AF8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3" y="1690688"/>
                <a:ext cx="5430417" cy="3139321"/>
              </a:xfrm>
              <a:prstGeom prst="rect">
                <a:avLst/>
              </a:prstGeom>
              <a:blipFill>
                <a:blip r:embed="rId2"/>
                <a:stretch>
                  <a:fillRect l="-1010" t="-971" r="-561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90271F1-CFF1-0943-C4FF-AC6D44201497}"/>
              </a:ext>
            </a:extLst>
          </p:cNvPr>
          <p:cNvSpPr/>
          <p:nvPr/>
        </p:nvSpPr>
        <p:spPr>
          <a:xfrm>
            <a:off x="9072291" y="2694712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BDA29B-C52E-14F0-367F-15762C810A2F}"/>
              </a:ext>
            </a:extLst>
          </p:cNvPr>
          <p:cNvSpPr/>
          <p:nvPr/>
        </p:nvSpPr>
        <p:spPr>
          <a:xfrm>
            <a:off x="9655455" y="3245644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46329E-4535-D364-CBAE-2EE1F445E1CB}"/>
              </a:ext>
            </a:extLst>
          </p:cNvPr>
          <p:cNvSpPr/>
          <p:nvPr/>
        </p:nvSpPr>
        <p:spPr>
          <a:xfrm>
            <a:off x="10492099" y="3917872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69B61D-4A08-E3A4-8C2A-A5225DAFEFB3}"/>
              </a:ext>
            </a:extLst>
          </p:cNvPr>
          <p:cNvSpPr/>
          <p:nvPr/>
        </p:nvSpPr>
        <p:spPr>
          <a:xfrm>
            <a:off x="10429896" y="2885990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85FA68-4AE4-A5F1-5129-069F2B974EAD}"/>
              </a:ext>
            </a:extLst>
          </p:cNvPr>
          <p:cNvCxnSpPr>
            <a:stCxn id="4" idx="5"/>
            <a:endCxn id="5" idx="1"/>
          </p:cNvCxnSpPr>
          <p:nvPr/>
        </p:nvCxnSpPr>
        <p:spPr>
          <a:xfrm>
            <a:off x="9398822" y="3021243"/>
            <a:ext cx="312657" cy="280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02AC05-0064-D637-525F-DD3EAE71A173}"/>
              </a:ext>
            </a:extLst>
          </p:cNvPr>
          <p:cNvCxnSpPr>
            <a:cxnSpLocks/>
            <a:stCxn id="9" idx="4"/>
            <a:endCxn id="7" idx="0"/>
          </p:cNvCxnSpPr>
          <p:nvPr/>
        </p:nvCxnSpPr>
        <p:spPr>
          <a:xfrm>
            <a:off x="10621174" y="3268545"/>
            <a:ext cx="62203" cy="649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6B571E-B47C-103E-D838-FE7D7E7E83A0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10038010" y="3212521"/>
            <a:ext cx="447910" cy="224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169BA9-FE3D-E28A-F580-9CC768C8DF61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9981986" y="3572175"/>
            <a:ext cx="566137" cy="401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EA377B9-F697-1432-9391-CA366DAB7CC7}"/>
              </a:ext>
            </a:extLst>
          </p:cNvPr>
          <p:cNvSpPr/>
          <p:nvPr/>
        </p:nvSpPr>
        <p:spPr>
          <a:xfrm>
            <a:off x="8356225" y="2243958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F13317-5356-57EA-839D-ED0CC5EC4FE0}"/>
              </a:ext>
            </a:extLst>
          </p:cNvPr>
          <p:cNvSpPr/>
          <p:nvPr/>
        </p:nvSpPr>
        <p:spPr>
          <a:xfrm>
            <a:off x="8422954" y="3667050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64F18B8-7A18-01F8-C986-B08350C95ED7}"/>
              </a:ext>
            </a:extLst>
          </p:cNvPr>
          <p:cNvSpPr/>
          <p:nvPr/>
        </p:nvSpPr>
        <p:spPr>
          <a:xfrm>
            <a:off x="9109634" y="3418492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EEAE08-E5C8-EB80-CA9A-71C8596A54F9}"/>
              </a:ext>
            </a:extLst>
          </p:cNvPr>
          <p:cNvSpPr/>
          <p:nvPr/>
        </p:nvSpPr>
        <p:spPr>
          <a:xfrm>
            <a:off x="7684336" y="4300427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8DE864A-0C16-44A8-852B-94864DAA761C}"/>
              </a:ext>
            </a:extLst>
          </p:cNvPr>
          <p:cNvCxnSpPr>
            <a:endCxn id="16" idx="1"/>
          </p:cNvCxnSpPr>
          <p:nvPr/>
        </p:nvCxnSpPr>
        <p:spPr>
          <a:xfrm>
            <a:off x="8035624" y="2045703"/>
            <a:ext cx="376625" cy="254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2F82E7-2CDD-1481-F5A0-99E83EBBAD7F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 flipV="1">
            <a:off x="8805509" y="3609770"/>
            <a:ext cx="304125" cy="248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9D5C6E-4778-E76E-898A-76F543C1B3EC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8738780" y="2033897"/>
            <a:ext cx="493622" cy="401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9C555D-23A6-C66C-6BA6-ADA04CE29635}"/>
              </a:ext>
            </a:extLst>
          </p:cNvPr>
          <p:cNvCxnSpPr>
            <a:cxnSpLocks/>
            <a:stCxn id="17" idx="3"/>
            <a:endCxn id="19" idx="7"/>
          </p:cNvCxnSpPr>
          <p:nvPr/>
        </p:nvCxnSpPr>
        <p:spPr>
          <a:xfrm flipH="1">
            <a:off x="8010867" y="3993581"/>
            <a:ext cx="468111" cy="362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19AD3A-570C-32CE-2082-73893571E4EA}"/>
              </a:ext>
            </a:extLst>
          </p:cNvPr>
          <p:cNvCxnSpPr>
            <a:cxnSpLocks/>
            <a:stCxn id="18" idx="1"/>
            <a:endCxn id="16" idx="5"/>
          </p:cNvCxnSpPr>
          <p:nvPr/>
        </p:nvCxnSpPr>
        <p:spPr>
          <a:xfrm flipH="1" flipV="1">
            <a:off x="8682756" y="2570489"/>
            <a:ext cx="482902" cy="904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D449C3-168D-FB96-F345-4E2DEEA826EE}"/>
              </a:ext>
            </a:extLst>
          </p:cNvPr>
          <p:cNvCxnSpPr>
            <a:stCxn id="4" idx="0"/>
          </p:cNvCxnSpPr>
          <p:nvPr/>
        </p:nvCxnSpPr>
        <p:spPr>
          <a:xfrm flipV="1">
            <a:off x="9263569" y="2089921"/>
            <a:ext cx="104087" cy="6047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EF83F5-03F5-B437-DDE3-DFE79554C845}"/>
              </a:ext>
            </a:extLst>
          </p:cNvPr>
          <p:cNvCxnSpPr>
            <a:stCxn id="5" idx="2"/>
            <a:endCxn id="18" idx="7"/>
          </p:cNvCxnSpPr>
          <p:nvPr/>
        </p:nvCxnSpPr>
        <p:spPr>
          <a:xfrm flipH="1">
            <a:off x="9436165" y="3436922"/>
            <a:ext cx="219290" cy="37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1EC5C28-A6BB-DB1F-3121-47A1EEE4863A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10756427" y="2718847"/>
            <a:ext cx="403519" cy="223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1052CA6-EE41-A2FC-8D49-B44438BDC085}"/>
              </a:ext>
            </a:extLst>
          </p:cNvPr>
          <p:cNvSpPr/>
          <p:nvPr/>
        </p:nvSpPr>
        <p:spPr>
          <a:xfrm>
            <a:off x="9795204" y="4646854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198FA27-FBAC-2245-6B79-2BA9275D7AA2}"/>
              </a:ext>
            </a:extLst>
          </p:cNvPr>
          <p:cNvSpPr/>
          <p:nvPr/>
        </p:nvSpPr>
        <p:spPr>
          <a:xfrm>
            <a:off x="10378368" y="5197786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E8315EB-4963-2A08-E15C-C64141D279F0}"/>
              </a:ext>
            </a:extLst>
          </p:cNvPr>
          <p:cNvSpPr/>
          <p:nvPr/>
        </p:nvSpPr>
        <p:spPr>
          <a:xfrm>
            <a:off x="11215012" y="5870014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5EA0C91-E8AE-6C19-3B70-8CE9A850220D}"/>
              </a:ext>
            </a:extLst>
          </p:cNvPr>
          <p:cNvSpPr/>
          <p:nvPr/>
        </p:nvSpPr>
        <p:spPr>
          <a:xfrm>
            <a:off x="11152809" y="4838132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C7396FF-83FA-87DB-ABA2-526AFF3BFA50}"/>
              </a:ext>
            </a:extLst>
          </p:cNvPr>
          <p:cNvCxnSpPr>
            <a:stCxn id="38" idx="5"/>
            <a:endCxn id="39" idx="1"/>
          </p:cNvCxnSpPr>
          <p:nvPr/>
        </p:nvCxnSpPr>
        <p:spPr>
          <a:xfrm>
            <a:off x="10121735" y="4973385"/>
            <a:ext cx="312657" cy="280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44DE90B-E475-74B3-B60C-33416D1424B4}"/>
              </a:ext>
            </a:extLst>
          </p:cNvPr>
          <p:cNvCxnSpPr>
            <a:cxnSpLocks/>
            <a:stCxn id="41" idx="4"/>
            <a:endCxn id="40" idx="0"/>
          </p:cNvCxnSpPr>
          <p:nvPr/>
        </p:nvCxnSpPr>
        <p:spPr>
          <a:xfrm>
            <a:off x="11344087" y="5220687"/>
            <a:ext cx="62203" cy="649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725DA2C-3FA1-D34E-665F-0ED68310AB44}"/>
              </a:ext>
            </a:extLst>
          </p:cNvPr>
          <p:cNvCxnSpPr>
            <a:cxnSpLocks/>
            <a:stCxn id="39" idx="6"/>
            <a:endCxn id="41" idx="3"/>
          </p:cNvCxnSpPr>
          <p:nvPr/>
        </p:nvCxnSpPr>
        <p:spPr>
          <a:xfrm flipV="1">
            <a:off x="10760923" y="5164663"/>
            <a:ext cx="447910" cy="224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74422D-616B-68D9-BA7F-550EB10DADBE}"/>
              </a:ext>
            </a:extLst>
          </p:cNvPr>
          <p:cNvCxnSpPr>
            <a:cxnSpLocks/>
            <a:stCxn id="40" idx="1"/>
            <a:endCxn id="39" idx="5"/>
          </p:cNvCxnSpPr>
          <p:nvPr/>
        </p:nvCxnSpPr>
        <p:spPr>
          <a:xfrm flipH="1" flipV="1">
            <a:off x="10704899" y="5524317"/>
            <a:ext cx="566137" cy="401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36D5FAAB-E76F-4BA3-E7A5-0E6EC58EF631}"/>
              </a:ext>
            </a:extLst>
          </p:cNvPr>
          <p:cNvSpPr/>
          <p:nvPr/>
        </p:nvSpPr>
        <p:spPr>
          <a:xfrm>
            <a:off x="9079138" y="4196100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3D6CA0D-94B3-3FE2-7CEB-FFF59F50B55A}"/>
              </a:ext>
            </a:extLst>
          </p:cNvPr>
          <p:cNvSpPr/>
          <p:nvPr/>
        </p:nvSpPr>
        <p:spPr>
          <a:xfrm>
            <a:off x="9145867" y="5619192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7E93841-AAC1-E97C-C0EE-137D35937FC2}"/>
              </a:ext>
            </a:extLst>
          </p:cNvPr>
          <p:cNvSpPr/>
          <p:nvPr/>
        </p:nvSpPr>
        <p:spPr>
          <a:xfrm>
            <a:off x="9832547" y="5370634"/>
            <a:ext cx="382555" cy="3825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ABAF26C-8AE8-F80D-25BA-3512675DF5E1}"/>
              </a:ext>
            </a:extLst>
          </p:cNvPr>
          <p:cNvSpPr/>
          <p:nvPr/>
        </p:nvSpPr>
        <p:spPr>
          <a:xfrm>
            <a:off x="8407249" y="6252569"/>
            <a:ext cx="382555" cy="38255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E45E6F3-B1C7-AD0C-C3D0-5BA940E2D350}"/>
              </a:ext>
            </a:extLst>
          </p:cNvPr>
          <p:cNvCxnSpPr>
            <a:endCxn id="46" idx="1"/>
          </p:cNvCxnSpPr>
          <p:nvPr/>
        </p:nvCxnSpPr>
        <p:spPr>
          <a:xfrm>
            <a:off x="8758537" y="3997845"/>
            <a:ext cx="376625" cy="2542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A69CE00-C7CC-FA0F-0FCB-F8267AFC961F}"/>
              </a:ext>
            </a:extLst>
          </p:cNvPr>
          <p:cNvCxnSpPr>
            <a:cxnSpLocks/>
            <a:stCxn id="47" idx="6"/>
            <a:endCxn id="48" idx="2"/>
          </p:cNvCxnSpPr>
          <p:nvPr/>
        </p:nvCxnSpPr>
        <p:spPr>
          <a:xfrm flipV="1">
            <a:off x="9528422" y="5561912"/>
            <a:ext cx="304125" cy="248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25B41D3-DD47-28E5-5719-0B6612AD5017}"/>
              </a:ext>
            </a:extLst>
          </p:cNvPr>
          <p:cNvCxnSpPr>
            <a:cxnSpLocks/>
            <a:stCxn id="46" idx="6"/>
            <a:endCxn id="18" idx="4"/>
          </p:cNvCxnSpPr>
          <p:nvPr/>
        </p:nvCxnSpPr>
        <p:spPr>
          <a:xfrm flipH="1" flipV="1">
            <a:off x="9300912" y="3801047"/>
            <a:ext cx="160781" cy="586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124059F-A8E4-84A0-8BC6-6C46E7290CD7}"/>
              </a:ext>
            </a:extLst>
          </p:cNvPr>
          <p:cNvCxnSpPr>
            <a:cxnSpLocks/>
            <a:stCxn id="47" idx="3"/>
            <a:endCxn id="49" idx="7"/>
          </p:cNvCxnSpPr>
          <p:nvPr/>
        </p:nvCxnSpPr>
        <p:spPr>
          <a:xfrm flipH="1">
            <a:off x="8733780" y="5945723"/>
            <a:ext cx="468111" cy="362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8F55D96-0D04-090B-F0F7-DED722080A01}"/>
              </a:ext>
            </a:extLst>
          </p:cNvPr>
          <p:cNvCxnSpPr>
            <a:cxnSpLocks/>
            <a:stCxn id="48" idx="1"/>
            <a:endCxn id="46" idx="5"/>
          </p:cNvCxnSpPr>
          <p:nvPr/>
        </p:nvCxnSpPr>
        <p:spPr>
          <a:xfrm flipH="1" flipV="1">
            <a:off x="9405669" y="4522631"/>
            <a:ext cx="482902" cy="904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64DD939-37EA-9C6B-6101-486B07EEEB25}"/>
              </a:ext>
            </a:extLst>
          </p:cNvPr>
          <p:cNvCxnSpPr>
            <a:cxnSpLocks/>
            <a:stCxn id="38" idx="0"/>
            <a:endCxn id="5" idx="4"/>
          </p:cNvCxnSpPr>
          <p:nvPr/>
        </p:nvCxnSpPr>
        <p:spPr>
          <a:xfrm flipH="1" flipV="1">
            <a:off x="9846733" y="3628199"/>
            <a:ext cx="139749" cy="1018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F961153-284F-4284-E0A0-73D6CD24CB72}"/>
              </a:ext>
            </a:extLst>
          </p:cNvPr>
          <p:cNvCxnSpPr>
            <a:stCxn id="39" idx="2"/>
            <a:endCxn id="48" idx="7"/>
          </p:cNvCxnSpPr>
          <p:nvPr/>
        </p:nvCxnSpPr>
        <p:spPr>
          <a:xfrm flipH="1">
            <a:off x="10159078" y="5389064"/>
            <a:ext cx="219290" cy="37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C04FEE2-59AB-EBF1-83AD-15C02323794C}"/>
              </a:ext>
            </a:extLst>
          </p:cNvPr>
          <p:cNvCxnSpPr>
            <a:cxnSpLocks/>
            <a:stCxn id="41" idx="7"/>
          </p:cNvCxnSpPr>
          <p:nvPr/>
        </p:nvCxnSpPr>
        <p:spPr>
          <a:xfrm flipV="1">
            <a:off x="11479340" y="4670989"/>
            <a:ext cx="403519" cy="223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57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8B0C-E826-6EE8-2FF5-E2966304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7F4CB-7E10-4011-7256-0A65AD1F105D}"/>
              </a:ext>
            </a:extLst>
          </p:cNvPr>
          <p:cNvSpPr txBox="1"/>
          <p:nvPr/>
        </p:nvSpPr>
        <p:spPr>
          <a:xfrm>
            <a:off x="838200" y="1735028"/>
            <a:ext cx="10870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SEAL uses a standard GNN and doesn’t make any innovations in this domain.</a:t>
            </a:r>
          </a:p>
          <a:p>
            <a:r>
              <a:rPr lang="en-US" dirty="0"/>
              <a:t>The Node Information Matrix and the Adjacency Matrix are passed as inputs to the GNN, which processes them through some convolution layers, followed by aggregation layers which generate a graph embedding vector, which is sent to a fully connected classifier.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2BE899-10DE-5D62-40C6-FB4F8EFEF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824612"/>
              </p:ext>
            </p:extLst>
          </p:nvPr>
        </p:nvGraphicFramePr>
        <p:xfrm>
          <a:off x="838200" y="3366384"/>
          <a:ext cx="2082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776220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88994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570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412415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03341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82813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8516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143716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2829015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20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58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40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565808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24D4ECC-5FC2-753E-3E31-5F0B7462C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09071"/>
              </p:ext>
            </p:extLst>
          </p:nvPr>
        </p:nvGraphicFramePr>
        <p:xfrm>
          <a:off x="838200" y="4909931"/>
          <a:ext cx="20828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4776220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88994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570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412415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03341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382813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8516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143716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2829015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20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58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40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5658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F9323AB-47F3-7084-0A20-9D90BF663A98}"/>
              </a:ext>
            </a:extLst>
          </p:cNvPr>
          <p:cNvSpPr txBox="1"/>
          <p:nvPr/>
        </p:nvSpPr>
        <p:spPr>
          <a:xfrm>
            <a:off x="988526" y="3661387"/>
            <a:ext cx="1782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Information Matrix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81BFFA-A768-008F-B138-78FA26BC3F4B}"/>
              </a:ext>
            </a:extLst>
          </p:cNvPr>
          <p:cNvSpPr txBox="1"/>
          <p:nvPr/>
        </p:nvSpPr>
        <p:spPr>
          <a:xfrm>
            <a:off x="988526" y="5466191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AA8357-F204-14BC-0D53-93FDCA1D7830}"/>
              </a:ext>
            </a:extLst>
          </p:cNvPr>
          <p:cNvSpPr/>
          <p:nvPr/>
        </p:nvSpPr>
        <p:spPr>
          <a:xfrm>
            <a:off x="4161453" y="3429000"/>
            <a:ext cx="2082800" cy="23279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Graph Neural Network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2ED2C6F-5C0B-2BD9-FC82-E3C56770F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15523"/>
              </p:ext>
            </p:extLst>
          </p:nvPr>
        </p:nvGraphicFramePr>
        <p:xfrm>
          <a:off x="6939902" y="3129954"/>
          <a:ext cx="208280" cy="2926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27913492"/>
                    </a:ext>
                  </a:extLst>
                </a:gridCol>
              </a:tblGrid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714894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976904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968256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02601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649934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040359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039850"/>
                  </a:ext>
                </a:extLst>
              </a:tr>
              <a:tr h="2984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466276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38782191-CF93-BEF1-8F79-56A829039982}"/>
              </a:ext>
            </a:extLst>
          </p:cNvPr>
          <p:cNvSpPr/>
          <p:nvPr/>
        </p:nvSpPr>
        <p:spPr>
          <a:xfrm>
            <a:off x="7843831" y="3429000"/>
            <a:ext cx="2082800" cy="23279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Fully Connected Layer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F1FAF65-8985-BD27-F11B-0565BE4BF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78998"/>
              </p:ext>
            </p:extLst>
          </p:nvPr>
        </p:nvGraphicFramePr>
        <p:xfrm>
          <a:off x="10737461" y="3485148"/>
          <a:ext cx="208280" cy="2215692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595302165"/>
                    </a:ext>
                  </a:extLst>
                </a:gridCol>
              </a:tblGrid>
              <a:tr h="11078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965666"/>
                  </a:ext>
                </a:extLst>
              </a:tr>
              <a:tr h="1107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03293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327BCBD-20FE-B7A4-1C81-7FADE51D175F}"/>
              </a:ext>
            </a:extLst>
          </p:cNvPr>
          <p:cNvSpPr txBox="1"/>
          <p:nvPr/>
        </p:nvSpPr>
        <p:spPr>
          <a:xfrm>
            <a:off x="6244253" y="6123543"/>
            <a:ext cx="1874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Embedding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43E563C-2940-7CE7-97C8-9CE171834A03}"/>
              </a:ext>
            </a:extLst>
          </p:cNvPr>
          <p:cNvSpPr/>
          <p:nvPr/>
        </p:nvSpPr>
        <p:spPr>
          <a:xfrm>
            <a:off x="3032449" y="3922644"/>
            <a:ext cx="978677" cy="2294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6B4EC8F-C085-02D4-E28F-40DFA4027A82}"/>
              </a:ext>
            </a:extLst>
          </p:cNvPr>
          <p:cNvSpPr/>
          <p:nvPr/>
        </p:nvSpPr>
        <p:spPr>
          <a:xfrm>
            <a:off x="3036596" y="5062331"/>
            <a:ext cx="978677" cy="22947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8C140B2E-C046-82EA-4DB8-4638FC0FAC5C}"/>
              </a:ext>
            </a:extLst>
          </p:cNvPr>
          <p:cNvSpPr/>
          <p:nvPr/>
        </p:nvSpPr>
        <p:spPr>
          <a:xfrm>
            <a:off x="6300729" y="4463619"/>
            <a:ext cx="582696" cy="24219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FD01674-9F81-B9DC-E711-DA99C6483F08}"/>
              </a:ext>
            </a:extLst>
          </p:cNvPr>
          <p:cNvSpPr/>
          <p:nvPr/>
        </p:nvSpPr>
        <p:spPr>
          <a:xfrm>
            <a:off x="7181401" y="4463618"/>
            <a:ext cx="582696" cy="24219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268EBD7-1EFF-56C9-1452-08FFDA04BF69}"/>
              </a:ext>
            </a:extLst>
          </p:cNvPr>
          <p:cNvSpPr/>
          <p:nvPr/>
        </p:nvSpPr>
        <p:spPr>
          <a:xfrm>
            <a:off x="10006365" y="4478904"/>
            <a:ext cx="582696" cy="24219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9658AB-A9BE-D485-388E-E8772C5F9687}"/>
              </a:ext>
            </a:extLst>
          </p:cNvPr>
          <p:cNvSpPr txBox="1"/>
          <p:nvPr/>
        </p:nvSpPr>
        <p:spPr>
          <a:xfrm>
            <a:off x="10006365" y="5817328"/>
            <a:ext cx="203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Result</a:t>
            </a:r>
          </a:p>
        </p:txBody>
      </p:sp>
    </p:spTree>
    <p:extLst>
      <p:ext uri="{BB962C8B-B14F-4D97-AF65-F5344CB8AC3E}">
        <p14:creationId xmlns:p14="http://schemas.microsoft.com/office/powerpoint/2010/main" val="280908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2483</TotalTime>
  <Words>1010</Words>
  <Application>Microsoft Macintosh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SEAL: Link Prediction Based on Graph Neural Networks</vt:lpstr>
      <vt:lpstr>PowerPoint Presentation</vt:lpstr>
      <vt:lpstr>PowerPoint Presentation</vt:lpstr>
      <vt:lpstr>Limitations with Heuristic Based approach</vt:lpstr>
      <vt:lpstr>Using DNN to automatically study graph structure heuristics</vt:lpstr>
      <vt:lpstr>First Contribution: γ-decaying theory</vt:lpstr>
      <vt:lpstr>PowerPoint Presentation</vt:lpstr>
      <vt:lpstr>Proving that Katz index is γ-decaying</vt:lpstr>
      <vt:lpstr>Important Conclusion</vt:lpstr>
      <vt:lpstr>SEAL: Implementation</vt:lpstr>
      <vt:lpstr>SEAL Execution Overview</vt:lpstr>
      <vt:lpstr>Subgraph Extraction</vt:lpstr>
      <vt:lpstr>Node Information Matrix Construction</vt:lpstr>
      <vt:lpstr>Structural Node Labeling</vt:lpstr>
      <vt:lpstr>GNN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SEAL</dc:title>
  <dc:creator>Pandey, Dhroov</dc:creator>
  <cp:lastModifiedBy>Shu, Tong</cp:lastModifiedBy>
  <cp:revision>8</cp:revision>
  <dcterms:created xsi:type="dcterms:W3CDTF">2023-10-08T19:27:19Z</dcterms:created>
  <dcterms:modified xsi:type="dcterms:W3CDTF">2023-10-12T01:15:46Z</dcterms:modified>
</cp:coreProperties>
</file>