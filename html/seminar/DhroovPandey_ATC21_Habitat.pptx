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Century Schoolbook"/>
      <p:regular r:id="rId21"/>
      <p:bold r:id="rId22"/>
      <p:italic r:id="rId23"/>
      <p:boldItalic r:id="rId24"/>
    </p:embeddedFont>
    <p:embeddedFont>
      <p:font typeface="Old Standard TT"/>
      <p:regular r:id="rId25"/>
      <p:bold r:id="rId26"/>
      <p: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A3E5F7-4F29-44EE-BDCA-22C9B9AE68D8}">
  <a:tblStyle styleId="{36A3E5F7-4F29-44EE-BDCA-22C9B9AE68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CenturySchoolbook-bold.fntdata"/><Relationship Id="rId21" Type="http://schemas.openxmlformats.org/officeDocument/2006/relationships/font" Target="fonts/CenturySchoolbook-regular.fntdata"/><Relationship Id="rId24" Type="http://schemas.openxmlformats.org/officeDocument/2006/relationships/font" Target="fonts/CenturySchoolbook-boldItalic.fntdata"/><Relationship Id="rId23" Type="http://schemas.openxmlformats.org/officeDocument/2006/relationships/font" Target="fonts/CenturySchoolbook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ldStandardTT-bold.fntdata"/><Relationship Id="rId25" Type="http://schemas.openxmlformats.org/officeDocument/2006/relationships/font" Target="fonts/OldStandardTT-regular.fntdata"/><Relationship Id="rId27" Type="http://schemas.openxmlformats.org/officeDocument/2006/relationships/font" Target="fonts/OldStandardT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f3ebca8a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f3ebca8a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f3ebca8a3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f3ebca8a3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814e9310e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814e9310e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814e9310e4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814e9310e4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814e9310e4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814e9310e4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14e9310e4_1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14e9310e4_1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814e9310e4_1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814e9310e4_1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814e9310e4_1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814e9310e4_1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817376fe0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817376fe0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817376fe0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817376fe0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817376fe0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817376fe0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817376fe0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817376fe0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b23d8629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b23d8629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Schoolbook"/>
              <a:buNone/>
              <a:defRPr sz="2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Schoolbook"/>
              <a:buNone/>
              <a:defRPr sz="2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Schoolbook"/>
              <a:buNone/>
              <a:defRPr sz="2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Schoolbook"/>
              <a:buNone/>
              <a:defRPr sz="2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Schoolbook"/>
              <a:buNone/>
              <a:defRPr sz="2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Schoolbook"/>
              <a:buNone/>
              <a:defRPr sz="2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Schoolbook"/>
              <a:buNone/>
              <a:defRPr sz="2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Schoolbook"/>
              <a:buNone/>
              <a:defRPr sz="2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Schoolbook"/>
              <a:buNone/>
              <a:defRPr sz="2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Char char="●"/>
              <a:defRPr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Schoolbook"/>
              <a:buChar char="○"/>
              <a:defRPr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Schoolbook"/>
              <a:buChar char="■"/>
              <a:defRPr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Schoolbook"/>
              <a:buChar char="●"/>
              <a:defRPr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Schoolbook"/>
              <a:buChar char="○"/>
              <a:defRPr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Schoolbook"/>
              <a:buChar char="■"/>
              <a:defRPr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Schoolbook"/>
              <a:buChar char="●"/>
              <a:defRPr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Schoolbook"/>
              <a:buChar char="○"/>
              <a:defRPr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Schoolbook"/>
              <a:buChar char="■"/>
              <a:defRPr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132275" y="4683025"/>
            <a:ext cx="622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Habitat: A Runtime-Based Computational Performance Predictor for Deep Neural Network Training</a:t>
            </a:r>
            <a:endParaRPr sz="100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744575"/>
            <a:ext cx="8520600" cy="14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latin typeface="Old Standard TT"/>
                <a:ea typeface="Old Standard TT"/>
                <a:cs typeface="Old Standard TT"/>
                <a:sym typeface="Old Standard TT"/>
              </a:rPr>
              <a:t>Habitat: A Runtime-Based Computational Performance Predictor for Deep Neural Network Training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571750"/>
            <a:ext cx="85206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Geoffrey X. Yu, </a:t>
            </a:r>
            <a:r>
              <a:rPr lang="en" sz="1000"/>
              <a:t>University of Toronto/Vector Institute</a:t>
            </a:r>
            <a:r>
              <a:rPr lang="en" sz="1600"/>
              <a:t>; Yubo Gao, </a:t>
            </a:r>
            <a:r>
              <a:rPr lang="en" sz="1000"/>
              <a:t>University of Toronto</a:t>
            </a:r>
            <a:r>
              <a:rPr lang="en" sz="1600"/>
              <a:t>; Pavel Golikov and Gennady Pekhimenko, </a:t>
            </a:r>
            <a:r>
              <a:rPr lang="en" sz="1000"/>
              <a:t>University of Toronto/Vector Institute</a:t>
            </a:r>
            <a:r>
              <a:rPr lang="en" sz="1600"/>
              <a:t> </a:t>
            </a:r>
            <a:r>
              <a:rPr lang="en" sz="1200"/>
              <a:t>https://www.usenix.org/conference/atc21/presentation/yu</a:t>
            </a:r>
            <a:endParaRPr sz="1200"/>
          </a:p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2806200" y="3441175"/>
            <a:ext cx="3531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Presenter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Dipak Acharya</a:t>
            </a:r>
            <a:endParaRPr sz="12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University of North Texas</a:t>
            </a:r>
            <a:endParaRPr sz="12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Denton TX</a:t>
            </a:r>
            <a:endParaRPr sz="12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Selecting GPU For Deep Learning Training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1064400" y="4068800"/>
            <a:ext cx="16251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Performance</a:t>
            </a:r>
            <a:endParaRPr/>
          </a:p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686700" y="3982400"/>
            <a:ext cx="333000" cy="572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7672700" y="4068800"/>
            <a:ext cx="7551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Cost</a:t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 rot="10800000">
            <a:off x="7339700" y="3982400"/>
            <a:ext cx="333000" cy="572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graphicFrame>
        <p:nvGraphicFramePr>
          <p:cNvPr id="69" name="Google Shape;69;p14"/>
          <p:cNvGraphicFramePr/>
          <p:nvPr/>
        </p:nvGraphicFramePr>
        <p:xfrm>
          <a:off x="952500" y="126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{36A3E5F7-4F29-44EE-BDCA-22C9B9AE68D8}</a:tableStyleId>
              </a:tblPr>
              <a:tblGrid>
                <a:gridCol w="2413000"/>
                <a:gridCol w="2413000"/>
                <a:gridCol w="2413000"/>
              </a:tblGrid>
              <a:tr h="46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Desktop</a:t>
                      </a:r>
                      <a:endParaRPr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Shared Cluster</a:t>
                      </a:r>
                      <a:endParaRPr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Cloud</a:t>
                      </a:r>
                      <a:endParaRPr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91425" marB="91425" marR="91425" marL="91425"/>
                </a:tc>
              </a:tr>
              <a:tr h="83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RTX 4090</a:t>
                      </a:r>
                      <a:endParaRPr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RTX 2080 Ti</a:t>
                      </a:r>
                      <a:endParaRPr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GTX 1080</a:t>
                      </a:r>
                      <a:endParaRPr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RTX 6000</a:t>
                      </a:r>
                      <a:endParaRPr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RTX A5500</a:t>
                      </a:r>
                      <a:endParaRPr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Nvidia H100</a:t>
                      </a:r>
                      <a:endParaRPr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Nvidia A100</a:t>
                      </a:r>
                      <a:endParaRPr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entury Schoolbook"/>
                          <a:ea typeface="Century Schoolbook"/>
                          <a:cs typeface="Century Schoolbook"/>
                          <a:sym typeface="Century Schoolbook"/>
                        </a:rPr>
                        <a:t>Nvidia V100</a:t>
                      </a:r>
                      <a:endParaRPr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0" name="Google Shape;70;p14"/>
          <p:cNvSpPr/>
          <p:nvPr/>
        </p:nvSpPr>
        <p:spPr>
          <a:xfrm>
            <a:off x="3856775" y="2640400"/>
            <a:ext cx="965400" cy="88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entury Schoolbook"/>
                <a:ea typeface="Century Schoolbook"/>
                <a:cs typeface="Century Schoolbook"/>
                <a:sym typeface="Century Schoolbook"/>
              </a:rPr>
              <a:t>Build?</a:t>
            </a:r>
            <a:endParaRPr sz="13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2814575" y="3026475"/>
            <a:ext cx="936300" cy="88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entury Schoolbook"/>
                <a:ea typeface="Century Schoolbook"/>
                <a:cs typeface="Century Schoolbook"/>
                <a:sym typeface="Century Schoolbook"/>
              </a:rPr>
              <a:t>Buy</a:t>
            </a:r>
            <a:r>
              <a:rPr lang="en" sz="1300">
                <a:latin typeface="Century Schoolbook"/>
                <a:ea typeface="Century Schoolbook"/>
                <a:cs typeface="Century Schoolbook"/>
                <a:sym typeface="Century Schoolbook"/>
              </a:rPr>
              <a:t>?</a:t>
            </a:r>
            <a:endParaRPr sz="13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4898975" y="3026475"/>
            <a:ext cx="936300" cy="88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entury Schoolbook"/>
                <a:ea typeface="Century Schoolbook"/>
                <a:cs typeface="Century Schoolbook"/>
                <a:sym typeface="Century Schoolbook"/>
              </a:rPr>
              <a:t>Rent</a:t>
            </a:r>
            <a:r>
              <a:rPr lang="en" sz="1300">
                <a:latin typeface="Century Schoolbook"/>
                <a:ea typeface="Century Schoolbook"/>
                <a:cs typeface="Century Schoolbook"/>
                <a:sym typeface="Century Schoolbook"/>
              </a:rPr>
              <a:t>?</a:t>
            </a:r>
            <a:endParaRPr sz="13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3167625" y="4127500"/>
            <a:ext cx="24219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Solution: Predict the Performance of a GPU</a:t>
            </a:r>
            <a:endParaRPr b="1" sz="1200">
              <a:solidFill>
                <a:srgbClr val="FF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predict the performance of DNN on a GPU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379400"/>
            <a:ext cx="38061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100"/>
              <a:t>Measure Performance directly</a:t>
            </a:r>
            <a:endParaRPr b="1" sz="11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b="1" lang="en" sz="1100"/>
              <a:t>	</a:t>
            </a:r>
            <a:r>
              <a:rPr lang="en" sz="1100"/>
              <a:t>GPU </a:t>
            </a:r>
            <a:r>
              <a:rPr lang="en" sz="1100"/>
              <a:t>Availability</a:t>
            </a:r>
            <a:r>
              <a:rPr lang="en" sz="1100"/>
              <a:t> </a:t>
            </a:r>
            <a:endParaRPr sz="1100"/>
          </a:p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2835000"/>
            <a:ext cx="38061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100"/>
              <a:t>Use Heuristics</a:t>
            </a:r>
            <a:endParaRPr b="1" sz="11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b="1" lang="en" sz="1100"/>
              <a:t>	</a:t>
            </a:r>
            <a:r>
              <a:rPr lang="en" sz="1100"/>
              <a:t>Proven to be not accurate</a:t>
            </a:r>
            <a:endParaRPr sz="1100"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4117800" y="1379400"/>
            <a:ext cx="46047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100"/>
              <a:t>Use publicly available Benchmarks</a:t>
            </a:r>
            <a:endParaRPr b="1" sz="11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b="1" lang="en" sz="1100"/>
              <a:t>	</a:t>
            </a:r>
            <a:r>
              <a:rPr lang="en" sz="1100"/>
              <a:t>Only available for popular models</a:t>
            </a:r>
            <a:endParaRPr sz="1100"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4117800" y="2834994"/>
            <a:ext cx="47145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100"/>
              <a:t>Always use the “Best” GPU</a:t>
            </a:r>
            <a:endParaRPr b="1" sz="11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100"/>
              <a:t>	</a:t>
            </a:r>
            <a:r>
              <a:rPr lang="en" sz="1100"/>
              <a:t>Performance changes based on model</a:t>
            </a:r>
            <a:endParaRPr sz="1100"/>
          </a:p>
          <a:p>
            <a:pPr indent="45720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" sz="1100"/>
              <a:t>Might be less cost effective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Observations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311700" y="1152475"/>
            <a:ext cx="516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/>
              <a:t>Repetitive</a:t>
            </a:r>
            <a:r>
              <a:rPr b="1" lang="en" sz="1100"/>
              <a:t> Computation</a:t>
            </a:r>
            <a:endParaRPr b="1"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DNN training involves thousands </a:t>
            </a:r>
            <a:r>
              <a:rPr lang="en" sz="1100"/>
              <a:t>repetitive</a:t>
            </a:r>
            <a:r>
              <a:rPr lang="en" sz="1100"/>
              <a:t> forward and backward passes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/>
              <a:t>Building  blocks of DNN</a:t>
            </a:r>
            <a:endParaRPr b="1"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DNNs are formed by combination of thousands of basic operators such as convolution, pooling, linear transform etc.</a:t>
            </a:r>
            <a:endParaRPr sz="11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/>
              <a:t>Runtime information available</a:t>
            </a:r>
            <a:endParaRPr b="1"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DNN developers already have a lower tier GPU available to them which gives important runtime information</a:t>
            </a:r>
            <a:endParaRPr sz="1100"/>
          </a:p>
        </p:txBody>
      </p: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2125" y="1365225"/>
            <a:ext cx="3200176" cy="20347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5703850" y="3476825"/>
            <a:ext cx="312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Fig. </a:t>
            </a:r>
            <a:r>
              <a:rPr lang="en" sz="11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DNN model as a computational graph </a:t>
            </a:r>
            <a:endParaRPr sz="11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Habitat</a:t>
            </a:r>
            <a:endParaRPr/>
          </a:p>
        </p:txBody>
      </p:sp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283000" y="1692975"/>
            <a:ext cx="1008600" cy="42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Schoolbook"/>
                <a:ea typeface="Century Schoolbook"/>
                <a:cs typeface="Century Schoolbook"/>
                <a:sym typeface="Century Schoolbook"/>
              </a:rPr>
              <a:t>Model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283000" y="2545050"/>
            <a:ext cx="1008600" cy="39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Schoolbook"/>
                <a:ea typeface="Century Schoolbook"/>
                <a:cs typeface="Century Schoolbook"/>
                <a:sym typeface="Century Schoolbook"/>
              </a:rPr>
              <a:t>Origin GPU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101" name="Google Shape;101;p17"/>
          <p:cNvCxnSpPr>
            <a:stCxn id="99" idx="3"/>
          </p:cNvCxnSpPr>
          <p:nvPr/>
        </p:nvCxnSpPr>
        <p:spPr>
          <a:xfrm>
            <a:off x="1291600" y="1904175"/>
            <a:ext cx="6240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7"/>
          <p:cNvCxnSpPr/>
          <p:nvPr/>
        </p:nvCxnSpPr>
        <p:spPr>
          <a:xfrm>
            <a:off x="1291600" y="2735850"/>
            <a:ext cx="6240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" name="Google Shape;103;p17"/>
          <p:cNvSpPr/>
          <p:nvPr/>
        </p:nvSpPr>
        <p:spPr>
          <a:xfrm>
            <a:off x="1915600" y="1510175"/>
            <a:ext cx="1468500" cy="158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Schoolbook"/>
                <a:ea typeface="Century Schoolbook"/>
                <a:cs typeface="Century Schoolbook"/>
                <a:sym typeface="Century Schoolbook"/>
              </a:rPr>
              <a:t>Profile Information and Runtime Metadata of each operation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5162350" y="1541675"/>
            <a:ext cx="1468500" cy="158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Schoolbook"/>
                <a:ea typeface="Century Schoolbook"/>
                <a:cs typeface="Century Schoolbook"/>
                <a:sym typeface="Century Schoolbook"/>
              </a:rPr>
              <a:t>Predicted Execution time of each operation on the Target GPU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105" name="Google Shape;105;p17"/>
          <p:cNvCxnSpPr/>
          <p:nvPr/>
        </p:nvCxnSpPr>
        <p:spPr>
          <a:xfrm>
            <a:off x="3396825" y="2743650"/>
            <a:ext cx="1764900" cy="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17"/>
          <p:cNvCxnSpPr/>
          <p:nvPr/>
        </p:nvCxnSpPr>
        <p:spPr>
          <a:xfrm flipH="1" rot="10800000">
            <a:off x="3396825" y="1900875"/>
            <a:ext cx="17712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" name="Google Shape;107;p17"/>
          <p:cNvSpPr txBox="1"/>
          <p:nvPr/>
        </p:nvSpPr>
        <p:spPr>
          <a:xfrm>
            <a:off x="3604825" y="1617325"/>
            <a:ext cx="15255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Wave Scaling</a:t>
            </a:r>
            <a:endParaRPr sz="11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3636838" y="2462625"/>
            <a:ext cx="15255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Pre-trained MLPs</a:t>
            </a:r>
            <a:endParaRPr sz="11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4008100" y="2083850"/>
            <a:ext cx="4539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</a:t>
            </a:r>
            <a:endParaRPr sz="11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7746075" y="1763250"/>
            <a:ext cx="1159800" cy="11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Schoolbook"/>
                <a:ea typeface="Century Schoolbook"/>
                <a:cs typeface="Century Schoolbook"/>
                <a:sym typeface="Century Schoolbook"/>
              </a:rPr>
              <a:t>Execution time for single Iteration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111" name="Google Shape;111;p17"/>
          <p:cNvCxnSpPr/>
          <p:nvPr/>
        </p:nvCxnSpPr>
        <p:spPr>
          <a:xfrm>
            <a:off x="6630849" y="2409200"/>
            <a:ext cx="1114800" cy="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" name="Google Shape;112;p17"/>
          <p:cNvSpPr txBox="1"/>
          <p:nvPr/>
        </p:nvSpPr>
        <p:spPr>
          <a:xfrm>
            <a:off x="6782473" y="2115375"/>
            <a:ext cx="9636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Combine</a:t>
            </a:r>
            <a:endParaRPr sz="11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Habitat: Wave Scaling</a:t>
            </a:r>
            <a:endParaRPr/>
          </a:p>
        </p:txBody>
      </p:sp>
      <p:sp>
        <p:nvSpPr>
          <p:cNvPr id="118" name="Google Shape;118;p18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989850" y="1755300"/>
            <a:ext cx="1713600" cy="111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entury Schoolbook"/>
                <a:ea typeface="Century Schoolbook"/>
                <a:cs typeface="Century Schoolbook"/>
                <a:sym typeface="Century Schoolbook"/>
              </a:rPr>
              <a:t>Kernel (DNN operator)</a:t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entury Schoolbook"/>
                <a:ea typeface="Century Schoolbook"/>
                <a:cs typeface="Century Schoolbook"/>
                <a:sym typeface="Century Schoolbook"/>
              </a:rPr>
              <a:t>12 Thread Blocks</a:t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1071461" y="2229727"/>
            <a:ext cx="199800" cy="15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1071461" y="2437497"/>
            <a:ext cx="199800" cy="15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1344291" y="2229727"/>
            <a:ext cx="199800" cy="15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1344291" y="2437497"/>
            <a:ext cx="199800" cy="15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1617122" y="2229727"/>
            <a:ext cx="199800" cy="15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1617122" y="2437497"/>
            <a:ext cx="199800" cy="15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1889952" y="2229727"/>
            <a:ext cx="199800" cy="15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1889952" y="2437497"/>
            <a:ext cx="199800" cy="15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2158629" y="2229727"/>
            <a:ext cx="199800" cy="15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2158629" y="2437497"/>
            <a:ext cx="199800" cy="15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2431459" y="2229727"/>
            <a:ext cx="199800" cy="15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2431459" y="2437497"/>
            <a:ext cx="199800" cy="15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3682991" y="1042950"/>
            <a:ext cx="1713600" cy="88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entury Schoolbook"/>
                <a:ea typeface="Century Schoolbook"/>
                <a:cs typeface="Century Schoolbook"/>
                <a:sym typeface="Century Schoolbook"/>
              </a:rPr>
              <a:t>GPU with 2 SM</a:t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3820221" y="1432508"/>
            <a:ext cx="563700" cy="32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4683567" y="1432508"/>
            <a:ext cx="563700" cy="32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3682991" y="2172474"/>
            <a:ext cx="1713600" cy="124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entury Schoolbook"/>
                <a:ea typeface="Century Schoolbook"/>
                <a:cs typeface="Century Schoolbook"/>
                <a:sym typeface="Century Schoolbook"/>
              </a:rPr>
              <a:t>GPU with 4 SM</a:t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3820221" y="2491127"/>
            <a:ext cx="563700" cy="32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4683567" y="2491127"/>
            <a:ext cx="563700" cy="32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3826195" y="2994766"/>
            <a:ext cx="563700" cy="32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4689541" y="2994766"/>
            <a:ext cx="563700" cy="32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140" name="Google Shape;140;p18"/>
          <p:cNvCxnSpPr>
            <a:stCxn id="119" idx="3"/>
            <a:endCxn id="132" idx="1"/>
          </p:cNvCxnSpPr>
          <p:nvPr/>
        </p:nvCxnSpPr>
        <p:spPr>
          <a:xfrm flipH="1" rot="10800000">
            <a:off x="2703450" y="1486350"/>
            <a:ext cx="979500" cy="82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18"/>
          <p:cNvCxnSpPr>
            <a:stCxn id="119" idx="3"/>
            <a:endCxn id="135" idx="1"/>
          </p:cNvCxnSpPr>
          <p:nvPr/>
        </p:nvCxnSpPr>
        <p:spPr>
          <a:xfrm>
            <a:off x="2703450" y="2310750"/>
            <a:ext cx="979500" cy="48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18"/>
          <p:cNvSpPr txBox="1"/>
          <p:nvPr/>
        </p:nvSpPr>
        <p:spPr>
          <a:xfrm>
            <a:off x="5636828" y="1195334"/>
            <a:ext cx="2517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Completes execution in 6 waves</a:t>
            </a:r>
            <a:endParaRPr sz="12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5636828" y="2543276"/>
            <a:ext cx="2517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Completes execution in 4 waves</a:t>
            </a:r>
            <a:endParaRPr sz="12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407700" y="3943275"/>
            <a:ext cx="83286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Factors that affect the execution: </a:t>
            </a:r>
            <a:r>
              <a:rPr b="1"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Memory Bandwidth</a:t>
            </a:r>
            <a:r>
              <a:rPr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1"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Wave Size</a:t>
            </a:r>
            <a:r>
              <a:rPr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and </a:t>
            </a:r>
            <a:r>
              <a:rPr b="1"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Clock Frequency</a:t>
            </a:r>
            <a:endParaRPr b="1" sz="12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Wave Scaling</a:t>
            </a:r>
            <a:endParaRPr/>
          </a:p>
        </p:txBody>
      </p:sp>
      <p:sp>
        <p:nvSpPr>
          <p:cNvPr id="150" name="Google Shape;150;p19"/>
          <p:cNvSpPr txBox="1"/>
          <p:nvPr>
            <p:ph idx="1" type="body"/>
          </p:nvPr>
        </p:nvSpPr>
        <p:spPr>
          <a:xfrm>
            <a:off x="825075" y="2291800"/>
            <a:ext cx="74820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/>
              <a:t>T</a:t>
            </a:r>
            <a:r>
              <a:rPr baseline="-25000" i="1" lang="en" sz="1100"/>
              <a:t>i</a:t>
            </a:r>
            <a:r>
              <a:rPr i="1" lang="en" sz="1100"/>
              <a:t> = </a:t>
            </a:r>
            <a:r>
              <a:rPr lang="en" sz="1100"/>
              <a:t>Execution Time</a:t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100"/>
              <a:t>D</a:t>
            </a:r>
            <a:r>
              <a:rPr baseline="-25000" i="1" lang="en" sz="1100"/>
              <a:t>i</a:t>
            </a:r>
            <a:r>
              <a:rPr i="1" lang="en" sz="1100"/>
              <a:t> = </a:t>
            </a:r>
            <a:r>
              <a:rPr lang="en" sz="1100"/>
              <a:t>Memory Bandwidth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100"/>
              <a:t>C</a:t>
            </a:r>
            <a:r>
              <a:rPr baseline="-25000" i="1" lang="en" sz="1100"/>
              <a:t>i</a:t>
            </a:r>
            <a:r>
              <a:rPr i="1" lang="en" sz="1100"/>
              <a:t> = </a:t>
            </a:r>
            <a:r>
              <a:rPr lang="en" sz="1100"/>
              <a:t>Clock Frequency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100"/>
              <a:t>B = </a:t>
            </a:r>
            <a:r>
              <a:rPr lang="en" sz="1100"/>
              <a:t>Number of thread Blocks in the Kernel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100"/>
              <a:t>W</a:t>
            </a:r>
            <a:r>
              <a:rPr baseline="-25000" i="1" lang="en" sz="1100"/>
              <a:t>i</a:t>
            </a:r>
            <a:r>
              <a:rPr i="1" lang="en" sz="1100"/>
              <a:t> = </a:t>
            </a:r>
            <a:r>
              <a:rPr lang="en" sz="1100"/>
              <a:t>Number of thread Blocks in the Wave 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𝛾 𝟄 [0, 1] - Memory bandwidth boundedness	</a:t>
            </a:r>
            <a:endParaRPr sz="1100"/>
          </a:p>
        </p:txBody>
      </p:sp>
      <p:sp>
        <p:nvSpPr>
          <p:cNvPr id="151" name="Google Shape;151;p19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2" name="Google Shape;15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7694" y="1152469"/>
            <a:ext cx="3670675" cy="71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>
            <p:ph idx="1" type="body"/>
          </p:nvPr>
        </p:nvSpPr>
        <p:spPr>
          <a:xfrm>
            <a:off x="5034450" y="2406025"/>
            <a:ext cx="3670800" cy="19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MLP Predictor</a:t>
            </a:r>
            <a:endParaRPr/>
          </a:p>
        </p:txBody>
      </p:sp>
      <p:sp>
        <p:nvSpPr>
          <p:cNvPr id="159" name="Google Shape;15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Predict execution time of the kernel-varying operation</a:t>
            </a:r>
            <a:endParaRPr b="1"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Convolution, LSTMs, Batched matrix multiplication, linear layer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Input Features</a:t>
            </a:r>
            <a:endParaRPr b="1"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Layer Dimensions (eg. input/output channels sin convolution)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Memory capacity and Bandwidth of target GPU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Number of Streaming Multiprocessors (SMs) on target GPU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Peak FLOPS of the target GPU</a:t>
            </a:r>
            <a:endParaRPr sz="12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Model Architecture</a:t>
            </a:r>
            <a:endParaRPr b="1"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Input layer, 8 hidden layers and output layer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Each hidden layer with ReLU activation with 1024 units</a:t>
            </a:r>
            <a:endParaRPr sz="1200"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Selecting Gamma (γ)</a:t>
            </a:r>
            <a:endParaRPr/>
          </a:p>
        </p:txBody>
      </p:sp>
      <p:sp>
        <p:nvSpPr>
          <p:cNvPr id="166" name="Google Shape;166;p21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Roofline Model:</a:t>
            </a:r>
            <a:endParaRPr b="1"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Number of floating point operations per byte of data read/write (x)</a:t>
            </a:r>
            <a:endParaRPr sz="11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Kernel performance is Minimum of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Hardware Peak Performance</a:t>
            </a:r>
            <a:endParaRPr sz="11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OR</a:t>
            </a:r>
            <a:endParaRPr sz="1100"/>
          </a:p>
          <a:p>
            <a:pPr indent="-298450" lvl="1" marL="914400" rtl="0" algn="l">
              <a:spcBef>
                <a:spcPts val="120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Bandwidth times kernel’s </a:t>
            </a:r>
            <a:r>
              <a:rPr lang="en" sz="1100"/>
              <a:t>arithmetic</a:t>
            </a:r>
            <a:r>
              <a:rPr lang="en" sz="1100"/>
              <a:t> intensity</a:t>
            </a:r>
            <a:endParaRPr sz="11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7" name="Google Shape;167;p21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8" name="Google Shape;16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8275" y="1583502"/>
            <a:ext cx="3889275" cy="14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7888" y="3040850"/>
            <a:ext cx="2840100" cy="772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21"/>
          <p:cNvCxnSpPr/>
          <p:nvPr/>
        </p:nvCxnSpPr>
        <p:spPr>
          <a:xfrm>
            <a:off x="5403275" y="1151000"/>
            <a:ext cx="0" cy="1321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21"/>
          <p:cNvCxnSpPr/>
          <p:nvPr/>
        </p:nvCxnSpPr>
        <p:spPr>
          <a:xfrm>
            <a:off x="6674125" y="1391475"/>
            <a:ext cx="0" cy="765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" name="Google Shape;172;p21"/>
          <p:cNvSpPr txBox="1"/>
          <p:nvPr/>
        </p:nvSpPr>
        <p:spPr>
          <a:xfrm>
            <a:off x="4845325" y="765325"/>
            <a:ext cx="13815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Memory Bandwidth Bound</a:t>
            </a:r>
            <a:endParaRPr sz="1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6107600" y="1113175"/>
            <a:ext cx="16896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Hardware Performance Bound</a:t>
            </a:r>
            <a:endParaRPr sz="1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Evaluation: Accuracy</a:t>
            </a:r>
            <a:endParaRPr/>
          </a:p>
        </p:txBody>
      </p:sp>
      <p:sp>
        <p:nvSpPr>
          <p:cNvPr id="179" name="Google Shape;179;p22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2"/>
          <p:cNvSpPr txBox="1"/>
          <p:nvPr/>
        </p:nvSpPr>
        <p:spPr>
          <a:xfrm>
            <a:off x="447250" y="1147975"/>
            <a:ext cx="4164600" cy="3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Evaluation for models </a:t>
            </a:r>
            <a:endParaRPr sz="13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Resnet-50, Inception v3, Transformer, GNMT, DCGAN</a:t>
            </a:r>
            <a:endParaRPr b="1" sz="13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Experiments done with GPUs </a:t>
            </a:r>
            <a:endParaRPr sz="13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V100, 2080 Ti, T4, 2070, P100, P4000</a:t>
            </a:r>
            <a:endParaRPr b="1" sz="13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Average End to End accuracy across all experiments is </a:t>
            </a:r>
            <a:r>
              <a:rPr b="1" lang="en" sz="13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11.8%</a:t>
            </a:r>
            <a:endParaRPr b="1" sz="13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81" name="Google Shape;18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9050" y="1147975"/>
            <a:ext cx="3753251" cy="193317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 txBox="1"/>
          <p:nvPr/>
        </p:nvSpPr>
        <p:spPr>
          <a:xfrm>
            <a:off x="5353175" y="3211400"/>
            <a:ext cx="3345000" cy="10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Fig: </a:t>
            </a:r>
            <a:r>
              <a:rPr lang="en" sz="1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Prediction Errors for V100 GPU for different models</a:t>
            </a:r>
            <a:endParaRPr sz="1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Refer Paper for Errors breakdown of other GPUs</a:t>
            </a:r>
            <a:endParaRPr sz="1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Evaluation: Error Contribution</a:t>
            </a:r>
            <a:endParaRPr/>
          </a:p>
        </p:txBody>
      </p:sp>
      <p:sp>
        <p:nvSpPr>
          <p:cNvPr id="188" name="Google Shape;188;p23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9" name="Google Shape;18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900" y="1133225"/>
            <a:ext cx="7283026" cy="20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/>
          <p:nvPr/>
        </p:nvSpPr>
        <p:spPr>
          <a:xfrm>
            <a:off x="1786850" y="2485950"/>
            <a:ext cx="1011600" cy="474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2842750" y="2485950"/>
            <a:ext cx="5035800" cy="474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192" name="Google Shape;192;p23"/>
          <p:cNvCxnSpPr>
            <a:endCxn id="193" idx="0"/>
          </p:cNvCxnSpPr>
          <p:nvPr/>
        </p:nvCxnSpPr>
        <p:spPr>
          <a:xfrm flipH="1">
            <a:off x="1683500" y="2975650"/>
            <a:ext cx="428400" cy="332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23"/>
          <p:cNvCxnSpPr>
            <a:stCxn id="191" idx="2"/>
            <a:endCxn id="195" idx="0"/>
          </p:cNvCxnSpPr>
          <p:nvPr/>
        </p:nvCxnSpPr>
        <p:spPr>
          <a:xfrm>
            <a:off x="5360650" y="2960850"/>
            <a:ext cx="973500" cy="302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" name="Google Shape;193;p23"/>
          <p:cNvSpPr txBox="1"/>
          <p:nvPr/>
        </p:nvSpPr>
        <p:spPr>
          <a:xfrm>
            <a:off x="1255250" y="3307750"/>
            <a:ext cx="8565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MLP</a:t>
            </a:r>
            <a:endParaRPr sz="12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95" name="Google Shape;195;p23"/>
          <p:cNvSpPr txBox="1"/>
          <p:nvPr/>
        </p:nvSpPr>
        <p:spPr>
          <a:xfrm>
            <a:off x="5682850" y="3263550"/>
            <a:ext cx="13023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Wave Scaling</a:t>
            </a:r>
            <a:endParaRPr sz="12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804825" y="3987200"/>
            <a:ext cx="77856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Both MLP and Wave Scaling give prediction within acceptable error range</a:t>
            </a:r>
            <a:endParaRPr sz="12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Evaluation: Making GPU Decisions</a:t>
            </a:r>
            <a:endParaRPr/>
          </a:p>
        </p:txBody>
      </p:sp>
      <p:sp>
        <p:nvSpPr>
          <p:cNvPr id="202" name="Google Shape;202;p24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3" name="Google Shape;20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050" y="1738675"/>
            <a:ext cx="3148641" cy="1401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2975" y="1738676"/>
            <a:ext cx="3241475" cy="14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4"/>
          <p:cNvSpPr txBox="1"/>
          <p:nvPr/>
        </p:nvSpPr>
        <p:spPr>
          <a:xfrm>
            <a:off x="1159250" y="1174650"/>
            <a:ext cx="66381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Selecting a GPU to rent,  </a:t>
            </a:r>
            <a:r>
              <a:rPr b="1"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P100 </a:t>
            </a:r>
            <a:r>
              <a:rPr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</a:t>
            </a:r>
            <a:r>
              <a:rPr b="1"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T4</a:t>
            </a:r>
            <a:r>
              <a:rPr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or </a:t>
            </a:r>
            <a:r>
              <a:rPr b="1"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V100</a:t>
            </a:r>
            <a:endParaRPr b="1" sz="12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06" name="Google Shape;206;p24"/>
          <p:cNvSpPr/>
          <p:nvPr/>
        </p:nvSpPr>
        <p:spPr>
          <a:xfrm>
            <a:off x="2695050" y="1821425"/>
            <a:ext cx="908100" cy="1124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6051975" y="1821425"/>
            <a:ext cx="908100" cy="1124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208" name="Google Shape;208;p24"/>
          <p:cNvCxnSpPr>
            <a:stCxn id="206" idx="2"/>
          </p:cNvCxnSpPr>
          <p:nvPr/>
        </p:nvCxnSpPr>
        <p:spPr>
          <a:xfrm>
            <a:off x="3149100" y="2946125"/>
            <a:ext cx="3900" cy="413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24"/>
          <p:cNvCxnSpPr>
            <a:endCxn id="210" idx="0"/>
          </p:cNvCxnSpPr>
          <p:nvPr/>
        </p:nvCxnSpPr>
        <p:spPr>
          <a:xfrm flipH="1">
            <a:off x="6506025" y="2945975"/>
            <a:ext cx="1800" cy="351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" name="Google Shape;211;p24"/>
          <p:cNvSpPr txBox="1"/>
          <p:nvPr/>
        </p:nvSpPr>
        <p:spPr>
          <a:xfrm>
            <a:off x="2039850" y="3359525"/>
            <a:ext cx="2222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Best overall Performance</a:t>
            </a:r>
            <a:endParaRPr sz="12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10" name="Google Shape;210;p24"/>
          <p:cNvSpPr txBox="1"/>
          <p:nvPr/>
        </p:nvSpPr>
        <p:spPr>
          <a:xfrm>
            <a:off x="5394825" y="3297875"/>
            <a:ext cx="2222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Best price for performance</a:t>
            </a:r>
            <a:endParaRPr sz="12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12" name="Google Shape;212;p24"/>
          <p:cNvSpPr txBox="1"/>
          <p:nvPr/>
        </p:nvSpPr>
        <p:spPr>
          <a:xfrm>
            <a:off x="588050" y="4117475"/>
            <a:ext cx="80025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Habitat leads to Correct decisions for selecting a GPU for DNN Training</a:t>
            </a:r>
            <a:endParaRPr sz="12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Evaluation: Is V100 always better?</a:t>
            </a:r>
            <a:endParaRPr/>
          </a:p>
        </p:txBody>
      </p:sp>
      <p:sp>
        <p:nvSpPr>
          <p:cNvPr id="218" name="Google Shape;218;p25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25"/>
          <p:cNvSpPr txBox="1"/>
          <p:nvPr/>
        </p:nvSpPr>
        <p:spPr>
          <a:xfrm>
            <a:off x="539000" y="3522025"/>
            <a:ext cx="80514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V100 gives the best Performance but is only marginally better than </a:t>
            </a:r>
            <a:r>
              <a:rPr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2080 Ti</a:t>
            </a:r>
            <a:r>
              <a:rPr lang="en" sz="1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which is much more cost efficient. </a:t>
            </a:r>
            <a:endParaRPr sz="12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20" name="Google Shape;22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6700" y="1292975"/>
            <a:ext cx="5081696" cy="219949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5"/>
          <p:cNvSpPr/>
          <p:nvPr/>
        </p:nvSpPr>
        <p:spPr>
          <a:xfrm>
            <a:off x="6060875" y="1385438"/>
            <a:ext cx="865200" cy="1887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Questions</a:t>
            </a:r>
            <a:endParaRPr sz="3600"/>
          </a:p>
        </p:txBody>
      </p:sp>
      <p:sp>
        <p:nvSpPr>
          <p:cNvPr id="227" name="Google Shape;227;p26"/>
          <p:cNvSpPr txBox="1"/>
          <p:nvPr>
            <p:ph idx="12" type="sldNum"/>
          </p:nvPr>
        </p:nvSpPr>
        <p:spPr>
          <a:xfrm>
            <a:off x="8590450" y="4683025"/>
            <a:ext cx="404400" cy="3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